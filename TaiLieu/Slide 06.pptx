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47"/>
  </p:notesMasterIdLst>
  <p:sldIdLst>
    <p:sldId id="541" r:id="rId2"/>
    <p:sldId id="551" r:id="rId3"/>
    <p:sldId id="564" r:id="rId4"/>
    <p:sldId id="561" r:id="rId5"/>
    <p:sldId id="558" r:id="rId6"/>
    <p:sldId id="596" r:id="rId7"/>
    <p:sldId id="562" r:id="rId8"/>
    <p:sldId id="563" r:id="rId9"/>
    <p:sldId id="565" r:id="rId10"/>
    <p:sldId id="556" r:id="rId11"/>
    <p:sldId id="566" r:id="rId12"/>
    <p:sldId id="559" r:id="rId13"/>
    <p:sldId id="569" r:id="rId14"/>
    <p:sldId id="570" r:id="rId15"/>
    <p:sldId id="560" r:id="rId16"/>
    <p:sldId id="571" r:id="rId17"/>
    <p:sldId id="573" r:id="rId18"/>
    <p:sldId id="574" r:id="rId19"/>
    <p:sldId id="584" r:id="rId20"/>
    <p:sldId id="585" r:id="rId21"/>
    <p:sldId id="586" r:id="rId22"/>
    <p:sldId id="575" r:id="rId23"/>
    <p:sldId id="572" r:id="rId24"/>
    <p:sldId id="555" r:id="rId25"/>
    <p:sldId id="583" r:id="rId26"/>
    <p:sldId id="588" r:id="rId27"/>
    <p:sldId id="589" r:id="rId28"/>
    <p:sldId id="590" r:id="rId29"/>
    <p:sldId id="587" r:id="rId30"/>
    <p:sldId id="594" r:id="rId31"/>
    <p:sldId id="567" r:id="rId32"/>
    <p:sldId id="593" r:id="rId33"/>
    <p:sldId id="592" r:id="rId34"/>
    <p:sldId id="568" r:id="rId35"/>
    <p:sldId id="578" r:id="rId36"/>
    <p:sldId id="579" r:id="rId37"/>
    <p:sldId id="580" r:id="rId38"/>
    <p:sldId id="576" r:id="rId39"/>
    <p:sldId id="577" r:id="rId40"/>
    <p:sldId id="581" r:id="rId41"/>
    <p:sldId id="582" r:id="rId42"/>
    <p:sldId id="595" r:id="rId43"/>
    <p:sldId id="553" r:id="rId44"/>
    <p:sldId id="597" r:id="rId45"/>
    <p:sldId id="550" r:id="rId4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  <a:srgbClr val="FFD1D1"/>
    <a:srgbClr val="FF5A33"/>
    <a:srgbClr val="5C0000"/>
    <a:srgbClr val="FF9900"/>
    <a:srgbClr val="FFB9B9"/>
    <a:srgbClr val="FF9797"/>
    <a:srgbClr val="FF8F8F"/>
    <a:srgbClr val="DCD9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02" autoAdjust="0"/>
    <p:restoredTop sz="68885" autoAdjust="0"/>
  </p:normalViewPr>
  <p:slideViewPr>
    <p:cSldViewPr>
      <p:cViewPr varScale="1">
        <p:scale>
          <a:sx n="98" d="100"/>
          <a:sy n="98" d="100"/>
        </p:scale>
        <p:origin x="278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50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an Quang Binh (FE FPL HCM)" userId="65448d05-bb6a-4efc-9bfb-949045b55d3f" providerId="ADAL" clId="{9F89F039-CA10-4A8B-8997-485C512DC2D3}"/>
    <pc:docChg chg="custSel modSld">
      <pc:chgData name="Tran Quang Binh (FE FPL HCM)" userId="65448d05-bb6a-4efc-9bfb-949045b55d3f" providerId="ADAL" clId="{9F89F039-CA10-4A8B-8997-485C512DC2D3}" dt="2021-11-23T04:33:18.462" v="121" actId="2711"/>
      <pc:docMkLst>
        <pc:docMk/>
      </pc:docMkLst>
      <pc:sldChg chg="modSp mod">
        <pc:chgData name="Tran Quang Binh (FE FPL HCM)" userId="65448d05-bb6a-4efc-9bfb-949045b55d3f" providerId="ADAL" clId="{9F89F039-CA10-4A8B-8997-485C512DC2D3}" dt="2021-11-23T04:30:19.152" v="1" actId="27636"/>
        <pc:sldMkLst>
          <pc:docMk/>
          <pc:sldMk cId="1570037645" sldId="565"/>
        </pc:sldMkLst>
        <pc:spChg chg="mod">
          <ac:chgData name="Tran Quang Binh (FE FPL HCM)" userId="65448d05-bb6a-4efc-9bfb-949045b55d3f" providerId="ADAL" clId="{9F89F039-CA10-4A8B-8997-485C512DC2D3}" dt="2021-11-23T04:30:19.152" v="1" actId="27636"/>
          <ac:spMkLst>
            <pc:docMk/>
            <pc:sldMk cId="1570037645" sldId="565"/>
            <ac:spMk id="4" creationId="{00000000-0000-0000-0000-000000000000}"/>
          </ac:spMkLst>
        </pc:spChg>
      </pc:sldChg>
      <pc:sldChg chg="addSp modSp mod">
        <pc:chgData name="Tran Quang Binh (FE FPL HCM)" userId="65448d05-bb6a-4efc-9bfb-949045b55d3f" providerId="ADAL" clId="{9F89F039-CA10-4A8B-8997-485C512DC2D3}" dt="2021-11-23T04:33:18.462" v="121" actId="2711"/>
        <pc:sldMkLst>
          <pc:docMk/>
          <pc:sldMk cId="535998017" sldId="584"/>
        </pc:sldMkLst>
        <pc:spChg chg="mod">
          <ac:chgData name="Tran Quang Binh (FE FPL HCM)" userId="65448d05-bb6a-4efc-9bfb-949045b55d3f" providerId="ADAL" clId="{9F89F039-CA10-4A8B-8997-485C512DC2D3}" dt="2021-11-23T04:33:18.462" v="121" actId="2711"/>
          <ac:spMkLst>
            <pc:docMk/>
            <pc:sldMk cId="535998017" sldId="584"/>
            <ac:spMk id="2" creationId="{00000000-0000-0000-0000-000000000000}"/>
          </ac:spMkLst>
        </pc:spChg>
        <pc:spChg chg="add mod">
          <ac:chgData name="Tran Quang Binh (FE FPL HCM)" userId="65448d05-bb6a-4efc-9bfb-949045b55d3f" providerId="ADAL" clId="{9F89F039-CA10-4A8B-8997-485C512DC2D3}" dt="2021-11-23T04:32:59.455" v="114" actId="1076"/>
          <ac:spMkLst>
            <pc:docMk/>
            <pc:sldMk cId="535998017" sldId="584"/>
            <ac:spMk id="4" creationId="{69CFD2E6-D97C-46CB-950C-3DE712753FCA}"/>
          </ac:spMkLst>
        </pc:spChg>
      </pc:sldChg>
    </pc:docChg>
  </pc:docChgLst>
  <pc:docChgLst>
    <pc:chgData name="Binh Tran Quang" userId="65448d05-bb6a-4efc-9bfb-949045b55d3f" providerId="ADAL" clId="{5503BDE0-7628-4B8B-8091-2A46DED4F559}"/>
    <pc:docChg chg="modSld">
      <pc:chgData name="Binh Tran Quang" userId="65448d05-bb6a-4efc-9bfb-949045b55d3f" providerId="ADAL" clId="{5503BDE0-7628-4B8B-8091-2A46DED4F559}" dt="2023-11-25T04:00:52.147" v="1" actId="20578"/>
      <pc:docMkLst>
        <pc:docMk/>
      </pc:docMkLst>
      <pc:sldChg chg="modSp">
        <pc:chgData name="Binh Tran Quang" userId="65448d05-bb6a-4efc-9bfb-949045b55d3f" providerId="ADAL" clId="{5503BDE0-7628-4B8B-8091-2A46DED4F559}" dt="2023-11-25T04:00:52.147" v="1" actId="20578"/>
        <pc:sldMkLst>
          <pc:docMk/>
          <pc:sldMk cId="1437997344" sldId="589"/>
        </pc:sldMkLst>
        <pc:spChg chg="mod">
          <ac:chgData name="Binh Tran Quang" userId="65448d05-bb6a-4efc-9bfb-949045b55d3f" providerId="ADAL" clId="{5503BDE0-7628-4B8B-8091-2A46DED4F559}" dt="2023-11-25T04:00:52.147" v="1" actId="20578"/>
          <ac:spMkLst>
            <pc:docMk/>
            <pc:sldMk cId="1437997344" sldId="589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60FC1-C18A-41E1-B5B3-73A5F51CC4CD}" type="datetimeFigureOut">
              <a:rPr lang="en-US" smtClean="0"/>
              <a:pPr/>
              <a:t>25/11/2023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6F88A-F17F-491B-A558-A5E9980DD5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872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int</a:t>
            </a:r>
            <a:r>
              <a:rPr lang="en-US" dirty="0"/>
              <a:t> i = 0;</a:t>
            </a:r>
          </a:p>
          <a:p>
            <a:r>
              <a:rPr lang="en-US" dirty="0"/>
              <a:t>    //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mang</a:t>
            </a:r>
            <a:r>
              <a:rPr lang="en-US" dirty="0"/>
              <a:t> </a:t>
            </a:r>
            <a:r>
              <a:rPr lang="en-US" dirty="0" err="1"/>
              <a:t>nac</a:t>
            </a:r>
            <a:r>
              <a:rPr lang="en-US" dirty="0"/>
              <a:t> </a:t>
            </a:r>
            <a:r>
              <a:rPr lang="en-US" dirty="0" err="1"/>
              <a:t>danh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marks[5];</a:t>
            </a:r>
          </a:p>
          <a:p>
            <a:r>
              <a:rPr lang="en-US" dirty="0"/>
              <a:t>    //</a:t>
            </a:r>
            <a:r>
              <a:rPr lang="en-US" dirty="0" err="1"/>
              <a:t>duyet</a:t>
            </a:r>
            <a:r>
              <a:rPr lang="en-US" dirty="0"/>
              <a:t> </a:t>
            </a:r>
            <a:r>
              <a:rPr lang="en-US" dirty="0" err="1"/>
              <a:t>mang</a:t>
            </a:r>
            <a:endParaRPr lang="en-US" dirty="0"/>
          </a:p>
          <a:p>
            <a:r>
              <a:rPr lang="en-US" dirty="0"/>
              <a:t>    for (i = 0; i &lt; 5; i++) {</a:t>
            </a:r>
          </a:p>
          <a:p>
            <a:r>
              <a:rPr lang="en-US" dirty="0"/>
              <a:t>        </a:t>
            </a:r>
            <a:r>
              <a:rPr lang="en-US" dirty="0" err="1"/>
              <a:t>scanf</a:t>
            </a:r>
            <a:r>
              <a:rPr lang="en-US" dirty="0"/>
              <a:t>("%</a:t>
            </a:r>
            <a:r>
              <a:rPr lang="en-US" dirty="0" err="1"/>
              <a:t>d",&amp;marks</a:t>
            </a:r>
            <a:r>
              <a:rPr lang="en-US" dirty="0"/>
              <a:t>[i]);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	for (i = 0; i &lt; 5; i++) {</a:t>
            </a:r>
          </a:p>
          <a:p>
            <a:r>
              <a:rPr lang="en-US" dirty="0"/>
              <a:t>         </a:t>
            </a:r>
            <a:r>
              <a:rPr lang="en-US" dirty="0" err="1"/>
              <a:t>printf</a:t>
            </a:r>
            <a:r>
              <a:rPr lang="en-US" dirty="0"/>
              <a:t>("%d \n", marks[i]);</a:t>
            </a:r>
          </a:p>
          <a:p>
            <a:r>
              <a:rPr lang="en-US" dirty="0"/>
              <a:t>    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528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528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Master" Target="../slideMasters/slideMaster1.xml"/><Relationship Id="rId7" Type="http://schemas.microsoft.com/office/2007/relationships/hdphoto" Target="../media/hdphoto1.wdp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microsoft.com/office/2007/relationships/hdphoto" Target="../media/hdphoto2.wdp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microsoft.com/office/2007/relationships/hdphoto" Target="../media/hdphoto5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microsoft.com/office/2007/relationships/hdphoto" Target="../media/hdphoto4.wdp"/><Relationship Id="rId4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113" y="0"/>
            <a:ext cx="12203938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67032" y="4038600"/>
            <a:ext cx="7255063" cy="830884"/>
          </a:xfrm>
        </p:spPr>
        <p:txBody>
          <a:bodyPr>
            <a:norm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>
            <a:lvl1pPr algn="l">
              <a:defRPr sz="3200" b="1" cap="all" spc="0" baseline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67032" y="4800600"/>
            <a:ext cx="7255063" cy="990600"/>
          </a:xfrm>
        </p:spPr>
        <p:txBody>
          <a:bodyPr>
            <a:normAutofit/>
          </a:bodyPr>
          <a:lstStyle>
            <a:lvl1pPr marL="0" indent="0" algn="l">
              <a:buNone/>
              <a:defRPr sz="3200" b="1" cap="small" spc="0" baseline="0">
                <a:ln w="3175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28" y="1998676"/>
            <a:ext cx="3330081" cy="386769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67" y="2615632"/>
            <a:ext cx="2103203" cy="26122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7125" y="533400"/>
            <a:ext cx="2626541" cy="14478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8029096" y="1978223"/>
            <a:ext cx="4159770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800" b="1" cap="none" spc="0" dirty="0">
                <a:ln>
                  <a:noFill/>
                </a:ln>
                <a:solidFill>
                  <a:schemeClr val="bg1"/>
                </a:solidFill>
                <a:effectLst/>
                <a:latin typeface="Segoe UI" pitchFamily="34" charset="0"/>
                <a:cs typeface="Segoe UI" pitchFamily="34" charset="0"/>
              </a:rPr>
              <a:t>Conceive</a:t>
            </a:r>
            <a:r>
              <a:rPr lang="en-US" sz="1800" b="1" cap="none" spc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" pitchFamily="34" charset="0"/>
                <a:cs typeface="Segoe UI" pitchFamily="34" charset="0"/>
              </a:rPr>
              <a:t> Design Implement Operate</a:t>
            </a:r>
            <a:endParaRPr lang="en-US" sz="1800" b="1" cap="none" spc="0" dirty="0">
              <a:ln>
                <a:noFill/>
              </a:ln>
              <a:solidFill>
                <a:schemeClr val="bg1"/>
              </a:solidFill>
              <a:effectLst/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9324662" y="6488668"/>
            <a:ext cx="2879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>
                <a:solidFill>
                  <a:srgbClr val="FF5A33"/>
                </a:solidFill>
                <a:latin typeface="Century Gothic" pitchFamily="34" charset="0"/>
              </a:rPr>
              <a:t>http://www.poly.edu.vn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858571" y="6062246"/>
            <a:ext cx="271219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all" spc="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/>
                <a:latin typeface="Segoe UI" pitchFamily="34" charset="0"/>
                <a:cs typeface="Segoe UI" pitchFamily="34" charset="0"/>
              </a:rPr>
              <a:t>Thực</a:t>
            </a:r>
            <a:r>
              <a:rPr lang="en-US" sz="1600" b="0" cap="all" spc="0" baseline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/>
                <a:latin typeface="Segoe UI" pitchFamily="34" charset="0"/>
                <a:cs typeface="Segoe UI" pitchFamily="34" charset="0"/>
              </a:rPr>
              <a:t> </a:t>
            </a:r>
            <a:r>
              <a:rPr lang="en-US" sz="1600" b="0" cap="all" spc="0" baseline="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/>
                <a:latin typeface="Segoe UI" pitchFamily="34" charset="0"/>
                <a:cs typeface="Segoe UI" pitchFamily="34" charset="0"/>
              </a:rPr>
              <a:t>học</a:t>
            </a:r>
            <a:r>
              <a:rPr lang="en-US" sz="1600" b="0" cap="all" spc="0" baseline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/>
                <a:latin typeface="Segoe UI" pitchFamily="34" charset="0"/>
                <a:cs typeface="Segoe UI" pitchFamily="34" charset="0"/>
              </a:rPr>
              <a:t> – </a:t>
            </a:r>
            <a:r>
              <a:rPr lang="en-US" sz="1600" b="0" cap="all" spc="0" baseline="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/>
                <a:latin typeface="Segoe UI" pitchFamily="34" charset="0"/>
                <a:cs typeface="Segoe UI" pitchFamily="34" charset="0"/>
              </a:rPr>
              <a:t>Thực</a:t>
            </a:r>
            <a:r>
              <a:rPr lang="en-US" sz="1600" b="0" cap="all" spc="0" baseline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/>
                <a:latin typeface="Segoe UI" pitchFamily="34" charset="0"/>
                <a:cs typeface="Segoe UI" pitchFamily="34" charset="0"/>
              </a:rPr>
              <a:t> </a:t>
            </a:r>
            <a:r>
              <a:rPr lang="en-US" sz="1600" b="0" cap="all" spc="0" baseline="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/>
                <a:latin typeface="Segoe UI" pitchFamily="34" charset="0"/>
                <a:cs typeface="Segoe UI" pitchFamily="34" charset="0"/>
              </a:rPr>
              <a:t>nghiệp</a:t>
            </a:r>
            <a:endParaRPr lang="en-US" sz="1600" b="0" cap="all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/>
              <a:latin typeface="Segoe UI" pitchFamily="34" charset="0"/>
              <a:cs typeface="Segoe UI" pitchFamily="34" charset="0"/>
            </a:endParaRP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4681585" y="4800600"/>
            <a:ext cx="7469056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5537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2485" y="274638"/>
            <a:ext cx="8836899" cy="487362"/>
          </a:xfrm>
        </p:spPr>
        <p:txBody>
          <a:bodyPr>
            <a:noAutofit/>
          </a:bodyPr>
          <a:lstStyle>
            <a:lvl1pPr algn="r">
              <a:defRPr sz="28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442" y="1066800"/>
            <a:ext cx="10969942" cy="5257800"/>
          </a:xfrm>
        </p:spPr>
        <p:txBody>
          <a:bodyPr>
            <a:normAutofit/>
          </a:bodyPr>
          <a:lstStyle>
            <a:lvl1pPr marL="342900" indent="-342900">
              <a:buClr>
                <a:srgbClr val="FF5A33"/>
              </a:buClr>
              <a:buFont typeface="Wingdings" pitchFamily="2" charset="2"/>
              <a:buChar char="q"/>
              <a:defRPr sz="2800">
                <a:latin typeface="Segoe UI" pitchFamily="34" charset="0"/>
                <a:cs typeface="Segoe UI" pitchFamily="34" charset="0"/>
              </a:defRPr>
            </a:lvl1pPr>
            <a:lvl2pPr marL="742950" indent="-285750">
              <a:buClr>
                <a:srgbClr val="FF5A33"/>
              </a:buClr>
              <a:buFont typeface="Wingdings" pitchFamily="2" charset="2"/>
              <a:buChar char="v"/>
              <a:defRPr sz="2400">
                <a:latin typeface="Segoe UI" pitchFamily="34" charset="0"/>
                <a:cs typeface="Segoe UI" pitchFamily="34" charset="0"/>
              </a:defRPr>
            </a:lvl2pPr>
            <a:lvl3pPr marL="1143000" indent="-228600">
              <a:buClr>
                <a:srgbClr val="FF5A33"/>
              </a:buClr>
              <a:buFont typeface="Wingdings" pitchFamily="2" charset="2"/>
              <a:buChar char="Ø"/>
              <a:defRPr sz="2000">
                <a:latin typeface="Segoe UI" pitchFamily="34" charset="0"/>
                <a:cs typeface="Segoe UI" pitchFamily="34" charset="0"/>
              </a:defRPr>
            </a:lvl3pPr>
            <a:lvl4pPr marL="1600200" indent="-228600">
              <a:buClr>
                <a:srgbClr val="FF5A33"/>
              </a:buClr>
              <a:buFont typeface="Wingdings" pitchFamily="2" charset="2"/>
              <a:buChar char="ü"/>
              <a:defRPr sz="1800">
                <a:latin typeface="Segoe UI" pitchFamily="34" charset="0"/>
                <a:cs typeface="Segoe UI" pitchFamily="34" charset="0"/>
              </a:defRPr>
            </a:lvl4pPr>
            <a:lvl5pPr marL="2057400" indent="-228600">
              <a:buClr>
                <a:srgbClr val="FF5A33"/>
              </a:buClr>
              <a:buFont typeface="Wingdings" pitchFamily="2" charset="2"/>
              <a:buChar char="§"/>
              <a:defRPr sz="1800"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68D2-241C-45AA-9AE4-65F442B6EDD2}" type="datetime1">
              <a:rPr lang="en-US" smtClean="0"/>
              <a:t>25/11/2023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51" y="218718"/>
            <a:ext cx="2104236" cy="548806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609442" y="838200"/>
            <a:ext cx="10969942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400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iv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2485" y="274638"/>
            <a:ext cx="8836899" cy="487362"/>
          </a:xfrm>
        </p:spPr>
        <p:txBody>
          <a:bodyPr>
            <a:noAutofit/>
          </a:bodyPr>
          <a:lstStyle>
            <a:lvl1pPr algn="r">
              <a:defRPr sz="28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6812" y="1066800"/>
            <a:ext cx="9142571" cy="5257800"/>
          </a:xfrm>
        </p:spPr>
        <p:txBody>
          <a:bodyPr>
            <a:normAutofit/>
          </a:bodyPr>
          <a:lstStyle>
            <a:lvl1pPr marL="342900" indent="-342900">
              <a:buClr>
                <a:srgbClr val="FF5A33"/>
              </a:buClr>
              <a:buFont typeface="Wingdings" pitchFamily="2" charset="2"/>
              <a:buChar char="¤"/>
              <a:defRPr sz="2800">
                <a:latin typeface="Segoe UI" pitchFamily="34" charset="0"/>
                <a:cs typeface="Segoe UI" pitchFamily="34" charset="0"/>
              </a:defRPr>
            </a:lvl1pPr>
            <a:lvl2pPr marL="742950" indent="-285750">
              <a:buClr>
                <a:srgbClr val="FF5A33"/>
              </a:buClr>
              <a:buFont typeface="Wingdings" pitchFamily="2" charset="2"/>
              <a:buChar char="v"/>
              <a:defRPr sz="2400">
                <a:latin typeface="Segoe UI" pitchFamily="34" charset="0"/>
                <a:cs typeface="Segoe UI" pitchFamily="34" charset="0"/>
              </a:defRPr>
            </a:lvl2pPr>
            <a:lvl3pPr marL="1143000" indent="-228600">
              <a:buClr>
                <a:srgbClr val="FF5A33"/>
              </a:buClr>
              <a:buFont typeface="Wingdings" pitchFamily="2" charset="2"/>
              <a:buChar char="Ø"/>
              <a:defRPr sz="2000">
                <a:latin typeface="Segoe UI" pitchFamily="34" charset="0"/>
                <a:cs typeface="Segoe UI" pitchFamily="34" charset="0"/>
              </a:defRPr>
            </a:lvl3pPr>
            <a:lvl4pPr marL="1600200" indent="-228600">
              <a:buClr>
                <a:srgbClr val="FF5A33"/>
              </a:buClr>
              <a:buFont typeface="Wingdings" pitchFamily="2" charset="2"/>
              <a:buChar char="ü"/>
              <a:defRPr sz="1800">
                <a:latin typeface="Segoe UI" pitchFamily="34" charset="0"/>
                <a:cs typeface="Segoe UI" pitchFamily="34" charset="0"/>
              </a:defRPr>
            </a:lvl4pPr>
            <a:lvl5pPr marL="2057400" indent="-228600">
              <a:buClr>
                <a:srgbClr val="FF5A33"/>
              </a:buClr>
              <a:buFont typeface="Wingdings" pitchFamily="2" charset="2"/>
              <a:buChar char="§"/>
              <a:defRPr sz="1800"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12F-AF4E-4AC9-9C6C-E70CE86BDB1F}" type="datetime1">
              <a:rPr lang="en-US" smtClean="0"/>
              <a:t>25/11/2023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51" y="218718"/>
            <a:ext cx="2104236" cy="548806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609442" y="838200"/>
            <a:ext cx="10969942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D:\Pictures\PNG\present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3212" y="1501139"/>
            <a:ext cx="2318714" cy="5356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8612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D:\Pictures\PNG\present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9900340" y="1501140"/>
            <a:ext cx="2318714" cy="5356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2485" y="274638"/>
            <a:ext cx="8836899" cy="487362"/>
          </a:xfrm>
        </p:spPr>
        <p:txBody>
          <a:bodyPr>
            <a:noAutofit/>
          </a:bodyPr>
          <a:lstStyle>
            <a:lvl1pPr algn="r">
              <a:defRPr sz="28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442" y="1066800"/>
            <a:ext cx="10969942" cy="5257800"/>
          </a:xfrm>
        </p:spPr>
        <p:txBody>
          <a:bodyPr>
            <a:normAutofit/>
          </a:bodyPr>
          <a:lstStyle>
            <a:lvl1pPr marL="342900" indent="-342900">
              <a:buClr>
                <a:srgbClr val="FF5A33"/>
              </a:buClr>
              <a:buFont typeface="Wingdings" pitchFamily="2" charset="2"/>
              <a:buChar char="&amp;"/>
              <a:defRPr sz="2800">
                <a:latin typeface="Segoe UI" pitchFamily="34" charset="0"/>
                <a:cs typeface="Segoe UI" pitchFamily="34" charset="0"/>
              </a:defRPr>
            </a:lvl1pPr>
            <a:lvl2pPr marL="742950" indent="-285750">
              <a:buClr>
                <a:srgbClr val="FF5A33"/>
              </a:buClr>
              <a:buFont typeface="Wingdings" pitchFamily="2" charset="2"/>
              <a:buChar char="v"/>
              <a:defRPr sz="2400">
                <a:latin typeface="Segoe UI" pitchFamily="34" charset="0"/>
                <a:cs typeface="Segoe UI" pitchFamily="34" charset="0"/>
              </a:defRPr>
            </a:lvl2pPr>
            <a:lvl3pPr marL="1143000" indent="-228600">
              <a:buClr>
                <a:srgbClr val="FF5A33"/>
              </a:buClr>
              <a:buFont typeface="Wingdings" pitchFamily="2" charset="2"/>
              <a:buChar char="Ø"/>
              <a:defRPr sz="2000">
                <a:latin typeface="Segoe UI" pitchFamily="34" charset="0"/>
                <a:cs typeface="Segoe UI" pitchFamily="34" charset="0"/>
              </a:defRPr>
            </a:lvl3pPr>
            <a:lvl4pPr marL="1600200" indent="-228600">
              <a:buClr>
                <a:srgbClr val="FF5A33"/>
              </a:buClr>
              <a:buFont typeface="Wingdings" pitchFamily="2" charset="2"/>
              <a:buChar char="ü"/>
              <a:defRPr sz="1800">
                <a:latin typeface="Segoe UI" pitchFamily="34" charset="0"/>
                <a:cs typeface="Segoe UI" pitchFamily="34" charset="0"/>
              </a:defRPr>
            </a:lvl4pPr>
            <a:lvl5pPr marL="2057400" indent="-228600">
              <a:buClr>
                <a:srgbClr val="FF5A33"/>
              </a:buClr>
              <a:buFont typeface="Wingdings" pitchFamily="2" charset="2"/>
              <a:buChar char="§"/>
              <a:defRPr sz="1800"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1C791-AEB4-41DB-B9D5-AB0D9DC07BD3}" type="datetime1">
              <a:rPr lang="en-US" smtClean="0"/>
              <a:t>25/11/2023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51" y="218718"/>
            <a:ext cx="2104236" cy="548806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609442" y="838200"/>
            <a:ext cx="10969942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406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Related image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1012" y="914400"/>
            <a:ext cx="1842993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D:\Pictures\PNG\present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9900340" y="1501140"/>
            <a:ext cx="2318714" cy="5356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2485" y="274638"/>
            <a:ext cx="8836899" cy="487362"/>
          </a:xfrm>
        </p:spPr>
        <p:txBody>
          <a:bodyPr>
            <a:noAutofit/>
          </a:bodyPr>
          <a:lstStyle>
            <a:lvl1pPr algn="r">
              <a:defRPr sz="28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442" y="1066800"/>
            <a:ext cx="10969942" cy="5257800"/>
          </a:xfrm>
        </p:spPr>
        <p:txBody>
          <a:bodyPr>
            <a:normAutofit/>
          </a:bodyPr>
          <a:lstStyle>
            <a:lvl1pPr marL="342900" indent="-342900">
              <a:buClr>
                <a:srgbClr val="FF5A33"/>
              </a:buClr>
              <a:buFont typeface="Wingdings" pitchFamily="2" charset="2"/>
              <a:buChar char="þ"/>
              <a:defRPr sz="2800">
                <a:latin typeface="Segoe UI" pitchFamily="34" charset="0"/>
                <a:cs typeface="Segoe UI" pitchFamily="34" charset="0"/>
              </a:defRPr>
            </a:lvl1pPr>
            <a:lvl2pPr marL="742950" indent="-285750">
              <a:buClr>
                <a:srgbClr val="FF5A33"/>
              </a:buClr>
              <a:buFont typeface="Wingdings" pitchFamily="2" charset="2"/>
              <a:buChar char="v"/>
              <a:defRPr sz="2400">
                <a:latin typeface="Segoe UI" pitchFamily="34" charset="0"/>
                <a:cs typeface="Segoe UI" pitchFamily="34" charset="0"/>
              </a:defRPr>
            </a:lvl2pPr>
            <a:lvl3pPr marL="1143000" indent="-228600">
              <a:buClr>
                <a:srgbClr val="FF5A33"/>
              </a:buClr>
              <a:buFont typeface="Wingdings" pitchFamily="2" charset="2"/>
              <a:buChar char="Ø"/>
              <a:defRPr sz="2000">
                <a:latin typeface="Segoe UI" pitchFamily="34" charset="0"/>
                <a:cs typeface="Segoe UI" pitchFamily="34" charset="0"/>
              </a:defRPr>
            </a:lvl3pPr>
            <a:lvl4pPr marL="1600200" indent="-228600">
              <a:buClr>
                <a:srgbClr val="FF5A33"/>
              </a:buClr>
              <a:buFont typeface="Wingdings" pitchFamily="2" charset="2"/>
              <a:buChar char="ü"/>
              <a:defRPr sz="1800">
                <a:latin typeface="Segoe UI" pitchFamily="34" charset="0"/>
                <a:cs typeface="Segoe UI" pitchFamily="34" charset="0"/>
              </a:defRPr>
            </a:lvl4pPr>
            <a:lvl5pPr marL="2057400" indent="-228600">
              <a:buClr>
                <a:srgbClr val="FF5A33"/>
              </a:buClr>
              <a:buFont typeface="Wingdings" pitchFamily="2" charset="2"/>
              <a:buChar char="§"/>
              <a:defRPr sz="1800"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11F98-33CC-4338-AFD8-A3219A6BF70E}" type="datetime1">
              <a:rPr lang="en-US" smtClean="0"/>
              <a:t>25/11/2023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51" y="218718"/>
            <a:ext cx="2104236" cy="548806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609442" y="838200"/>
            <a:ext cx="10969942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418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4" y="4406902"/>
            <a:ext cx="10360501" cy="1362075"/>
          </a:xfrm>
        </p:spPr>
        <p:txBody>
          <a:bodyPr anchor="t">
            <a:normAutofit/>
          </a:bodyPr>
          <a:lstStyle>
            <a:lvl1pPr algn="ctr">
              <a:defRPr sz="3200" b="1" cap="all" spc="0" baseline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C17ED-1467-422D-A83F-5839F7F2C198}" type="datetime1">
              <a:rPr lang="en-US" smtClean="0"/>
              <a:t>25/11/2023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5246" y="1219202"/>
            <a:ext cx="2138334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840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015" y="3581400"/>
            <a:ext cx="10969942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A064F-29C7-4FCA-A8F7-FF118A496BCD}" type="datetime1">
              <a:rPr lang="en-US" smtClean="0"/>
              <a:t>25/11/2023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pic>
        <p:nvPicPr>
          <p:cNvPr id="5122" name="Picture 2" descr="Image result for Dem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723" y="1295400"/>
            <a:ext cx="6148084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690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990601"/>
            <a:ext cx="5383397" cy="5135564"/>
          </a:xfrm>
        </p:spPr>
        <p:txBody>
          <a:bodyPr/>
          <a:lstStyle>
            <a:lvl1pPr marL="342900" indent="-342900">
              <a:buClr>
                <a:srgbClr val="FF3300"/>
              </a:buClr>
              <a:buFont typeface="Wingdings" pitchFamily="2" charset="2"/>
              <a:buChar char="v"/>
              <a:defRPr sz="2800">
                <a:latin typeface="Segoe UI" pitchFamily="34" charset="0"/>
                <a:cs typeface="Segoe UI" pitchFamily="34" charset="0"/>
              </a:defRPr>
            </a:lvl1pPr>
            <a:lvl2pPr marL="742950" indent="-285750">
              <a:buClr>
                <a:srgbClr val="FF3300"/>
              </a:buClr>
              <a:buFont typeface="Wingdings" pitchFamily="2" charset="2"/>
              <a:buChar char="Ø"/>
              <a:defRPr sz="2400">
                <a:latin typeface="Segoe UI" pitchFamily="34" charset="0"/>
                <a:cs typeface="Segoe UI" pitchFamily="34" charset="0"/>
              </a:defRPr>
            </a:lvl2pPr>
            <a:lvl3pPr>
              <a:defRPr sz="2000">
                <a:latin typeface="Segoe UI" pitchFamily="34" charset="0"/>
                <a:cs typeface="Segoe UI" pitchFamily="34" charset="0"/>
              </a:defRPr>
            </a:lvl3pPr>
            <a:lvl4pPr>
              <a:defRPr sz="1800">
                <a:latin typeface="Segoe UI" pitchFamily="34" charset="0"/>
                <a:cs typeface="Segoe UI" pitchFamily="34" charset="0"/>
              </a:defRPr>
            </a:lvl4pPr>
            <a:lvl5pPr>
              <a:defRPr sz="1800">
                <a:latin typeface="Segoe UI" pitchFamily="34" charset="0"/>
                <a:cs typeface="Segoe U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7" y="990601"/>
            <a:ext cx="5383397" cy="5135564"/>
          </a:xfrm>
        </p:spPr>
        <p:txBody>
          <a:bodyPr/>
          <a:lstStyle>
            <a:lvl1pPr marL="342900" indent="-342900">
              <a:buClr>
                <a:srgbClr val="FF3300"/>
              </a:buClr>
              <a:buFont typeface="Wingdings" pitchFamily="2" charset="2"/>
              <a:buChar char="v"/>
              <a:defRPr sz="2800">
                <a:latin typeface="Segoe UI" pitchFamily="34" charset="0"/>
                <a:cs typeface="Segoe UI" pitchFamily="34" charset="0"/>
              </a:defRPr>
            </a:lvl1pPr>
            <a:lvl2pPr marL="742950" indent="-285750">
              <a:buClr>
                <a:srgbClr val="FF3300"/>
              </a:buClr>
              <a:buFont typeface="Wingdings" pitchFamily="2" charset="2"/>
              <a:buChar char="Ø"/>
              <a:defRPr sz="2400">
                <a:latin typeface="Segoe UI" pitchFamily="34" charset="0"/>
                <a:cs typeface="Segoe UI" pitchFamily="34" charset="0"/>
              </a:defRPr>
            </a:lvl2pPr>
            <a:lvl3pPr>
              <a:defRPr sz="2000">
                <a:latin typeface="Segoe UI" pitchFamily="34" charset="0"/>
                <a:cs typeface="Segoe UI" pitchFamily="34" charset="0"/>
              </a:defRPr>
            </a:lvl3pPr>
            <a:lvl4pPr>
              <a:defRPr sz="1800">
                <a:latin typeface="Segoe UI" pitchFamily="34" charset="0"/>
                <a:cs typeface="Segoe UI" pitchFamily="34" charset="0"/>
              </a:defRPr>
            </a:lvl4pPr>
            <a:lvl5pPr>
              <a:defRPr sz="1800">
                <a:latin typeface="Segoe UI" pitchFamily="34" charset="0"/>
                <a:cs typeface="Segoe U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EC2E2-4D48-4DB8-AEE9-57354876413F}" type="datetime1">
              <a:rPr lang="en-US" smtClean="0"/>
              <a:t>25/11/2023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51" y="218718"/>
            <a:ext cx="2104236" cy="548806"/>
          </a:xfrm>
          <a:prstGeom prst="rect">
            <a:avLst/>
          </a:prstGeom>
        </p:spPr>
      </p:pic>
      <p:cxnSp>
        <p:nvCxnSpPr>
          <p:cNvPr id="10" name="Straight Connector 9"/>
          <p:cNvCxnSpPr/>
          <p:nvPr userDrawn="1"/>
        </p:nvCxnSpPr>
        <p:spPr>
          <a:xfrm>
            <a:off x="609442" y="838200"/>
            <a:ext cx="10969942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742486" y="274638"/>
            <a:ext cx="8836898" cy="492886"/>
          </a:xfrm>
        </p:spPr>
        <p:txBody>
          <a:bodyPr>
            <a:noAutofit/>
          </a:bodyPr>
          <a:lstStyle>
            <a:lvl1pPr algn="r">
              <a:defRPr sz="28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371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2" y="914400"/>
            <a:ext cx="5385515" cy="639762"/>
          </a:xfrm>
        </p:spPr>
        <p:txBody>
          <a:bodyPr anchor="b"/>
          <a:lstStyle>
            <a:lvl1pPr marL="0" indent="0">
              <a:buNone/>
              <a:defRPr sz="2400" b="1" cap="small" baseline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2" y="1600201"/>
            <a:ext cx="5385515" cy="4525963"/>
          </a:xfrm>
        </p:spPr>
        <p:txBody>
          <a:bodyPr/>
          <a:lstStyle>
            <a:lvl1pPr marL="342900" indent="-342900">
              <a:buClr>
                <a:srgbClr val="FF3300"/>
              </a:buClr>
              <a:buFont typeface="Wingdings" pitchFamily="2" charset="2"/>
              <a:buChar char="v"/>
              <a:defRPr sz="2400"/>
            </a:lvl1pPr>
            <a:lvl2pPr marL="742950" indent="-285750">
              <a:buClr>
                <a:srgbClr val="FF3300"/>
              </a:buClr>
              <a:buFont typeface="Wingdings" pitchFamily="2" charset="2"/>
              <a:buChar char="Ø"/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5" y="914400"/>
            <a:ext cx="5387630" cy="639762"/>
          </a:xfrm>
        </p:spPr>
        <p:txBody>
          <a:bodyPr anchor="b"/>
          <a:lstStyle>
            <a:lvl1pPr marL="0" indent="0">
              <a:buNone/>
              <a:defRPr sz="2400" b="1" cap="small" baseline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5" y="1600201"/>
            <a:ext cx="5387630" cy="4525963"/>
          </a:xfrm>
        </p:spPr>
        <p:txBody>
          <a:bodyPr/>
          <a:lstStyle>
            <a:lvl1pPr marL="342900" indent="-342900">
              <a:buClr>
                <a:srgbClr val="FF3300"/>
              </a:buClr>
              <a:buFont typeface="Wingdings" pitchFamily="2" charset="2"/>
              <a:buChar char="v"/>
              <a:defRPr sz="2400"/>
            </a:lvl1pPr>
            <a:lvl2pPr marL="742950" indent="-285750">
              <a:buClr>
                <a:srgbClr val="FF3300"/>
              </a:buClr>
              <a:buFont typeface="Wingdings" pitchFamily="2" charset="2"/>
              <a:buChar char="Ø"/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68671-C31F-48E0-9B34-0608565314E1}" type="datetime1">
              <a:rPr lang="en-US" smtClean="0"/>
              <a:t>25/11/2023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51" y="218718"/>
            <a:ext cx="2104236" cy="548806"/>
          </a:xfrm>
          <a:prstGeom prst="rect">
            <a:avLst/>
          </a:prstGeom>
        </p:spPr>
      </p:pic>
      <p:cxnSp>
        <p:nvCxnSpPr>
          <p:cNvPr id="12" name="Straight Connector 11"/>
          <p:cNvCxnSpPr/>
          <p:nvPr userDrawn="1"/>
        </p:nvCxnSpPr>
        <p:spPr>
          <a:xfrm>
            <a:off x="609442" y="838200"/>
            <a:ext cx="10969942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2742486" y="274638"/>
            <a:ext cx="8836898" cy="563562"/>
          </a:xfrm>
        </p:spPr>
        <p:txBody>
          <a:bodyPr>
            <a:normAutofit/>
          </a:bodyPr>
          <a:lstStyle>
            <a:lvl1pPr algn="r">
              <a:defRPr sz="28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3045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E2E3D-4715-470B-88CD-CB2C7C171771}" type="datetime1">
              <a:rPr lang="en-US" smtClean="0"/>
              <a:t>25/11/2023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0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73050"/>
            <a:ext cx="401004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3" y="273052"/>
            <a:ext cx="681389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4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317-6914-48B1-A9DD-DA1F5BA83534}" type="datetime1">
              <a:rPr lang="en-US" smtClean="0"/>
              <a:t>25/11/2023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35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8AD4B-1A03-4ADA-A986-DB5F0F6C6847}" type="datetime1">
              <a:rPr lang="en-US" smtClean="0"/>
              <a:t>25/11/2023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59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98CFC-0E04-462C-B780-7E4FAA9AAD75}" type="datetime1">
              <a:rPr lang="en-US" smtClean="0"/>
              <a:t>25/11/2023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00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40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2" y="274640"/>
            <a:ext cx="802430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B83F8-AA95-4B93-8ECB-E3B1D7820248}" type="datetime1">
              <a:rPr lang="en-US" smtClean="0"/>
              <a:t>25/11/2023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26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-1929897" y="6188077"/>
            <a:ext cx="2844059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7C0512-7E02-4E40-BD9C-21FAB99329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3FA20-4190-4F4A-BFDC-2AEA6355174E}" type="datetime1">
              <a:rPr lang="en-US" smtClean="0"/>
              <a:t>25/11/2023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12700"/>
            <a:ext cx="12240699" cy="6845300"/>
            <a:chOff x="0" y="12700"/>
            <a:chExt cx="12213597" cy="6845300"/>
          </a:xfrm>
        </p:grpSpPr>
        <p:pic>
          <p:nvPicPr>
            <p:cNvPr id="8" name="Picture 7"/>
            <p:cNvPicPr>
              <a:picLocks/>
            </p:cNvPicPr>
            <p:nvPr>
              <p:custDataLst>
                <p:tags r:id="rId1"/>
              </p:custDataLst>
            </p:nvPr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3069597" y="12700"/>
              <a:ext cx="9144000" cy="684530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/>
            </p:cNvPicPr>
            <p:nvPr>
              <p:custDataLst>
                <p:tags r:id="rId2"/>
              </p:custData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90861"/>
            <a:stretch/>
          </p:blipFill>
          <p:spPr bwMode="auto">
            <a:xfrm>
              <a:off x="0" y="12700"/>
              <a:ext cx="3069597" cy="6845300"/>
            </a:xfrm>
            <a:prstGeom prst="rect">
              <a:avLst/>
            </a:prstGeom>
          </p:spPr>
        </p:pic>
      </p:grpSp>
      <p:pic>
        <p:nvPicPr>
          <p:cNvPr id="6" name="Picture 2" descr="Image result for thanks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0612" y="4155743"/>
            <a:ext cx="4419600" cy="2702257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grpSp>
        <p:nvGrpSpPr>
          <p:cNvPr id="11" name="Group 10"/>
          <p:cNvGrpSpPr/>
          <p:nvPr userDrawn="1"/>
        </p:nvGrpSpPr>
        <p:grpSpPr>
          <a:xfrm>
            <a:off x="645390" y="2542160"/>
            <a:ext cx="2243139" cy="4371824"/>
            <a:chOff x="-2798010" y="2616804"/>
            <a:chExt cx="2238173" cy="4371824"/>
          </a:xfrm>
        </p:grpSpPr>
        <p:sp>
          <p:nvSpPr>
            <p:cNvPr id="12" name="Freeform 11"/>
            <p:cNvSpPr/>
            <p:nvPr/>
          </p:nvSpPr>
          <p:spPr>
            <a:xfrm>
              <a:off x="-2468880" y="3032760"/>
              <a:ext cx="1737360" cy="1935480"/>
            </a:xfrm>
            <a:custGeom>
              <a:avLst/>
              <a:gdLst>
                <a:gd name="connsiteX0" fmla="*/ 0 w 1737360"/>
                <a:gd name="connsiteY0" fmla="*/ 0 h 1935480"/>
                <a:gd name="connsiteX1" fmla="*/ 228600 w 1737360"/>
                <a:gd name="connsiteY1" fmla="*/ 1158240 h 1935480"/>
                <a:gd name="connsiteX2" fmla="*/ 701040 w 1737360"/>
                <a:gd name="connsiteY2" fmla="*/ 1524000 h 1935480"/>
                <a:gd name="connsiteX3" fmla="*/ 1432560 w 1737360"/>
                <a:gd name="connsiteY3" fmla="*/ 1935480 h 1935480"/>
                <a:gd name="connsiteX4" fmla="*/ 1737360 w 1737360"/>
                <a:gd name="connsiteY4" fmla="*/ 1844040 h 1935480"/>
                <a:gd name="connsiteX5" fmla="*/ 1706880 w 1737360"/>
                <a:gd name="connsiteY5" fmla="*/ 1676400 h 1935480"/>
                <a:gd name="connsiteX6" fmla="*/ 1706880 w 1737360"/>
                <a:gd name="connsiteY6" fmla="*/ 1234440 h 1935480"/>
                <a:gd name="connsiteX7" fmla="*/ 1493520 w 1737360"/>
                <a:gd name="connsiteY7" fmla="*/ 899160 h 1935480"/>
                <a:gd name="connsiteX8" fmla="*/ 1036320 w 1737360"/>
                <a:gd name="connsiteY8" fmla="*/ 701040 h 1935480"/>
                <a:gd name="connsiteX9" fmla="*/ 350520 w 1737360"/>
                <a:gd name="connsiteY9" fmla="*/ 259080 h 1935480"/>
                <a:gd name="connsiteX10" fmla="*/ 0 w 1737360"/>
                <a:gd name="connsiteY10" fmla="*/ 0 h 1935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37360" h="1935480">
                  <a:moveTo>
                    <a:pt x="0" y="0"/>
                  </a:moveTo>
                  <a:lnTo>
                    <a:pt x="228600" y="1158240"/>
                  </a:lnTo>
                  <a:lnTo>
                    <a:pt x="701040" y="1524000"/>
                  </a:lnTo>
                  <a:lnTo>
                    <a:pt x="1432560" y="1935480"/>
                  </a:lnTo>
                  <a:lnTo>
                    <a:pt x="1737360" y="1844040"/>
                  </a:lnTo>
                  <a:lnTo>
                    <a:pt x="1706880" y="1676400"/>
                  </a:lnTo>
                  <a:lnTo>
                    <a:pt x="1706880" y="1234440"/>
                  </a:lnTo>
                  <a:lnTo>
                    <a:pt x="1493520" y="899160"/>
                  </a:lnTo>
                  <a:lnTo>
                    <a:pt x="1036320" y="701040"/>
                  </a:lnTo>
                  <a:lnTo>
                    <a:pt x="350520" y="2590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rtlCol="0" anchor="ctr">
              <a:noAutofit/>
            </a:bodyPr>
            <a:lstStyle/>
            <a:p>
              <a:pPr algn="just">
                <a:lnSpc>
                  <a:spcPct val="120000"/>
                </a:lnSpc>
                <a:spcBef>
                  <a:spcPts val="600"/>
                </a:spcBef>
              </a:pPr>
              <a:endParaRPr lang="vi-VN" sz="2400" b="1">
                <a:latin typeface="Segoe UI" pitchFamily="34" charset="0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-2798010" y="2616804"/>
              <a:ext cx="2238173" cy="4371824"/>
              <a:chOff x="100462" y="2616804"/>
              <a:chExt cx="2238173" cy="4371824"/>
            </a:xfrm>
          </p:grpSpPr>
          <p:grpSp>
            <p:nvGrpSpPr>
              <p:cNvPr id="14" name="Group 13"/>
              <p:cNvGrpSpPr/>
              <p:nvPr/>
            </p:nvGrpSpPr>
            <p:grpSpPr>
              <a:xfrm>
                <a:off x="100462" y="2616804"/>
                <a:ext cx="2238173" cy="3972506"/>
                <a:chOff x="-84753" y="2896722"/>
                <a:chExt cx="2238173" cy="3972506"/>
              </a:xfrm>
            </p:grpSpPr>
            <p:sp>
              <p:nvSpPr>
                <p:cNvPr id="16" name="Freeform 15"/>
                <p:cNvSpPr/>
                <p:nvPr/>
              </p:nvSpPr>
              <p:spPr>
                <a:xfrm>
                  <a:off x="196771" y="3252486"/>
                  <a:ext cx="114172" cy="1400537"/>
                </a:xfrm>
                <a:custGeom>
                  <a:avLst/>
                  <a:gdLst>
                    <a:gd name="connsiteX0" fmla="*/ 0 w 57873"/>
                    <a:gd name="connsiteY0" fmla="*/ 0 h 1400537"/>
                    <a:gd name="connsiteX1" fmla="*/ 57873 w 57873"/>
                    <a:gd name="connsiteY1" fmla="*/ 1400537 h 1400537"/>
                    <a:gd name="connsiteX2" fmla="*/ 57873 w 57873"/>
                    <a:gd name="connsiteY2" fmla="*/ 1400537 h 1400537"/>
                    <a:gd name="connsiteX3" fmla="*/ 46298 w 57873"/>
                    <a:gd name="connsiteY3" fmla="*/ 57873 h 1400537"/>
                    <a:gd name="connsiteX4" fmla="*/ 0 w 57873"/>
                    <a:gd name="connsiteY4" fmla="*/ 0 h 1400537"/>
                    <a:gd name="connsiteX0" fmla="*/ 0 w 83739"/>
                    <a:gd name="connsiteY0" fmla="*/ 0 h 1400537"/>
                    <a:gd name="connsiteX1" fmla="*/ 57873 w 83739"/>
                    <a:gd name="connsiteY1" fmla="*/ 1400537 h 1400537"/>
                    <a:gd name="connsiteX2" fmla="*/ 57873 w 83739"/>
                    <a:gd name="connsiteY2" fmla="*/ 1400537 h 1400537"/>
                    <a:gd name="connsiteX3" fmla="*/ 83646 w 83739"/>
                    <a:gd name="connsiteY3" fmla="*/ 1142730 h 1400537"/>
                    <a:gd name="connsiteX4" fmla="*/ 46298 w 83739"/>
                    <a:gd name="connsiteY4" fmla="*/ 57873 h 1400537"/>
                    <a:gd name="connsiteX5" fmla="*/ 0 w 83739"/>
                    <a:gd name="connsiteY5" fmla="*/ 0 h 1400537"/>
                    <a:gd name="connsiteX0" fmla="*/ 0 w 114172"/>
                    <a:gd name="connsiteY0" fmla="*/ 0 h 1400537"/>
                    <a:gd name="connsiteX1" fmla="*/ 57873 w 114172"/>
                    <a:gd name="connsiteY1" fmla="*/ 1400537 h 1400537"/>
                    <a:gd name="connsiteX2" fmla="*/ 57873 w 114172"/>
                    <a:gd name="connsiteY2" fmla="*/ 1400537 h 1400537"/>
                    <a:gd name="connsiteX3" fmla="*/ 114126 w 114172"/>
                    <a:gd name="connsiteY3" fmla="*/ 1136634 h 1400537"/>
                    <a:gd name="connsiteX4" fmla="*/ 46298 w 114172"/>
                    <a:gd name="connsiteY4" fmla="*/ 57873 h 1400537"/>
                    <a:gd name="connsiteX5" fmla="*/ 0 w 114172"/>
                    <a:gd name="connsiteY5" fmla="*/ 0 h 140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4172" h="1400537">
                      <a:moveTo>
                        <a:pt x="0" y="0"/>
                      </a:moveTo>
                      <a:lnTo>
                        <a:pt x="57873" y="1400537"/>
                      </a:lnTo>
                      <a:lnTo>
                        <a:pt x="57873" y="1400537"/>
                      </a:lnTo>
                      <a:cubicBezTo>
                        <a:pt x="57089" y="1327089"/>
                        <a:pt x="116055" y="1360411"/>
                        <a:pt x="114126" y="1136634"/>
                      </a:cubicBezTo>
                      <a:cubicBezTo>
                        <a:pt x="112197" y="912857"/>
                        <a:pt x="55159" y="217848"/>
                        <a:pt x="46298" y="5787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wrap="none" rtlCol="0" anchor="ctr">
                  <a:noAutofit/>
                </a:bodyPr>
                <a:lstStyle/>
                <a:p>
                  <a:pPr algn="just">
                    <a:lnSpc>
                      <a:spcPct val="120000"/>
                    </a:lnSpc>
                    <a:spcBef>
                      <a:spcPts val="600"/>
                    </a:spcBef>
                  </a:pPr>
                  <a:endParaRPr lang="vi-VN" sz="2400" b="1">
                    <a:latin typeface="Segoe UI" pitchFamily="34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pic>
              <p:nvPicPr>
                <p:cNvPr id="17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email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backgroundRemoval t="1966" b="96151" l="24898" r="76658">
                              <a14:foregroundMark x1="30139" y1="9337" x2="46274" y2="16216"/>
                              <a14:foregroundMark x1="46274" y1="17609" x2="54464" y2="23014"/>
                              <a14:foregroundMark x1="56921" y1="29894" x2="69533" y2="34316"/>
                              <a14:foregroundMark x1="69861" y1="35627" x2="69533" y2="63554"/>
                              <a14:foregroundMark x1="68223" y1="62735" x2="70352" y2="43325"/>
                              <a14:foregroundMark x1="71171" y1="38084" x2="71990" y2="51515"/>
                              <a14:foregroundMark x1="66830" y1="41360" x2="67649" y2="52334"/>
                              <a14:foregroundMark x1="68468" y1="43571" x2="48485" y2="34562"/>
                              <a14:foregroundMark x1="69533" y1="48239" x2="62408" y2="37592"/>
                              <a14:foregroundMark x1="63554" y1="38657" x2="66257" y2="47174"/>
                              <a14:foregroundMark x1="53153" y1="19492" x2="54464" y2="23014"/>
                              <a14:foregroundMark x1="27109" y1="8272" x2="29566" y2="50942"/>
                              <a14:foregroundMark x1="31777" y1="40868" x2="30631" y2="20066"/>
                              <a14:foregroundMark x1="28174" y1="8845" x2="29566" y2="42506"/>
                              <a14:foregroundMark x1="36691" y1="46847" x2="42424" y2="48485"/>
                              <a14:foregroundMark x1="45455" y1="56429" x2="46519" y2="60033"/>
                              <a14:foregroundMark x1="49877" y1="44144" x2="58886" y2="65766"/>
                              <a14:foregroundMark x1="44799" y1="56429" x2="44881" y2="52252"/>
                              <a14:foregroundMark x1="64046" y1="38903" x2="62326" y2="45127"/>
                              <a14:foregroundMark x1="65684" y1="38002" x2="63964" y2="43735"/>
                              <a14:foregroundMark x1="62981" y1="38084" x2="63554" y2="41687"/>
                              <a14:foregroundMark x1="64619" y1="37838" x2="62162" y2="40295"/>
                              <a14:foregroundMark x1="64373" y1="38084" x2="65192" y2="44554"/>
                              <a14:foregroundMark x1="62735" y1="38903" x2="66257" y2="41360"/>
                              <a14:foregroundMark x1="66011" y1="45373" x2="69124" y2="50696"/>
                              <a14:foregroundMark x1="67813" y1="44963" x2="69042" y2="50123"/>
                              <a14:foregroundMark x1="69042" y1="44554" x2="69533" y2="50041"/>
                              <a14:foregroundMark x1="69451" y1="44308" x2="69861" y2="50041"/>
                              <a14:foregroundMark x1="69861" y1="45946" x2="69943" y2="51843"/>
                              <a14:foregroundMark x1="69697" y1="45536" x2="69861" y2="51515"/>
                              <a14:foregroundMark x1="69861" y1="46192" x2="70516" y2="49877"/>
                              <a14:foregroundMark x1="71499" y1="51351" x2="66011" y2="47830"/>
                              <a14:foregroundMark x1="64865" y1="38657" x2="62408" y2="41360"/>
                              <a14:foregroundMark x1="61753" y1="38247" x2="64373" y2="41933"/>
                              <a14:foregroundMark x1="59951" y1="38411" x2="66011" y2="41278"/>
                              <a14:foregroundMark x1="65684" y1="37265" x2="63964" y2="41360"/>
                              <a14:foregroundMark x1="59541" y1="37428" x2="61179" y2="42506"/>
                              <a14:foregroundMark x1="61753" y1="38411" x2="64373" y2="43489"/>
                              <a14:foregroundMark x1="62735" y1="39230" x2="62981" y2="41933"/>
                              <a14:foregroundMark x1="61507" y1="37674" x2="62817" y2="43735"/>
                              <a14:foregroundMark x1="61998" y1="38084" x2="63145" y2="42097"/>
                              <a14:foregroundMark x1="61589" y1="38247" x2="63145" y2="42670"/>
                              <a14:foregroundMark x1="62408" y1="37428" x2="64046" y2="42916"/>
                              <a14:foregroundMark x1="62981" y1="37674" x2="65029" y2="43489"/>
                              <a14:foregroundMark x1="63145" y1="35790" x2="66093" y2="44144"/>
                              <a14:foregroundMark x1="64455" y1="37265" x2="66257" y2="45536"/>
                              <a14:foregroundMark x1="64373" y1="37838" x2="67240" y2="43079"/>
                              <a14:foregroundMark x1="62981" y1="38411" x2="62817" y2="43079"/>
                              <a14:foregroundMark x1="62817" y1="42097" x2="65192" y2="45536"/>
                              <a14:foregroundMark x1="28501" y1="26454" x2="29566" y2="42752"/>
                              <a14:foregroundMark x1="26863" y1="5815" x2="33170" y2="93939"/>
                              <a14:foregroundMark x1="27355" y1="4996" x2="27109" y2="8026"/>
                              <a14:foregroundMark x1="61916" y1="36773" x2="66749" y2="41769"/>
                              <a14:foregroundMark x1="65192" y1="34889" x2="67322" y2="46192"/>
                              <a14:foregroundMark x1="68468" y1="41032" x2="69206" y2="52334"/>
                              <a14:foregroundMark x1="70762" y1="46028" x2="70188" y2="51761"/>
                              <a14:foregroundMark x1="71335" y1="47174" x2="69042" y2="52170"/>
                              <a14:foregroundMark x1="71744" y1="51188" x2="65438" y2="48157"/>
                              <a14:foregroundMark x1="67158" y1="47748" x2="70188" y2="49877"/>
                              <a14:foregroundMark x1="71581" y1="52334" x2="62326" y2="36036"/>
                              <a14:foregroundMark x1="62572" y1="35299" x2="66339" y2="40049"/>
                              <a14:foregroundMark x1="64455" y1="35053" x2="65602" y2="41196"/>
                              <a14:foregroundMark x1="64619" y1="35872" x2="66175" y2="45045"/>
                              <a14:foregroundMark x1="62899" y1="38329" x2="65192" y2="44636"/>
                              <a14:foregroundMark x1="63145" y1="37183" x2="65029" y2="44308"/>
                              <a14:foregroundMark x1="62162" y1="37183" x2="67158" y2="46765"/>
                              <a14:foregroundMark x1="63309" y1="35463" x2="68059" y2="52334"/>
                              <a14:foregroundMark x1="65192" y1="40868" x2="70434" y2="50450"/>
                              <a14:foregroundMark x1="68059" y1="41769" x2="69451" y2="50205"/>
                              <a14:foregroundMark x1="67158" y1="41605" x2="68468" y2="52744"/>
                              <a14:foregroundMark x1="68468" y1="47174" x2="69861" y2="54218"/>
                              <a14:foregroundMark x1="68059" y1="44881" x2="69451" y2="53481"/>
                              <a14:foregroundMark x1="69206" y1="45618" x2="70434" y2="55201"/>
                              <a14:foregroundMark x1="68632" y1="45618" x2="70598" y2="54054"/>
                              <a14:foregroundMark x1="69861" y1="47748" x2="69861" y2="53317"/>
                              <a14:foregroundMark x1="69861" y1="46765" x2="69861" y2="51351"/>
                              <a14:foregroundMark x1="70598" y1="45618" x2="70598" y2="52170"/>
                              <a14:foregroundMark x1="70598" y1="48894" x2="71007" y2="53645"/>
                              <a14:foregroundMark x1="70434" y1="45455" x2="70434" y2="49304"/>
                              <a14:foregroundMark x1="70434" y1="46355" x2="70434" y2="54218"/>
                              <a14:foregroundMark x1="70434" y1="46929" x2="70598" y2="52170"/>
                              <a14:foregroundMark x1="70598" y1="47338" x2="70598" y2="53890"/>
                              <a14:foregroundMark x1="70188" y1="44472" x2="70188" y2="52170"/>
                              <a14:foregroundMark x1="70188" y1="43898" x2="70762" y2="52744"/>
                              <a14:foregroundMark x1="70434" y1="47748" x2="70762" y2="53071"/>
                              <a14:foregroundMark x1="69861" y1="43161" x2="70025" y2="50450"/>
                              <a14:foregroundMark x1="66175" y1="40459" x2="67486" y2="48321"/>
                              <a14:foregroundMark x1="65192" y1="35872" x2="67895" y2="47174"/>
                              <a14:foregroundMark x1="63882" y1="36036" x2="66585" y2="44308"/>
                              <a14:foregroundMark x1="64292" y1="38903" x2="65602" y2="45209"/>
                              <a14:foregroundMark x1="63882" y1="38739" x2="65766" y2="45209"/>
                              <a14:foregroundMark x1="64046" y1="39066" x2="65192" y2="44308"/>
                              <a14:foregroundMark x1="63882" y1="41032" x2="65029" y2="45618"/>
                              <a14:foregroundMark x1="64292" y1="41605" x2="65602" y2="46929"/>
                              <a14:foregroundMark x1="70188" y1="46765" x2="70025" y2="53972"/>
                              <a14:foregroundMark x1="70352" y1="45700" x2="70352" y2="51843"/>
                              <a14:foregroundMark x1="70352" y1="43980" x2="69861" y2="52007"/>
                              <a14:foregroundMark x1="69533" y1="44308" x2="69124" y2="52334"/>
                              <a14:foregroundMark x1="68305" y1="48321" x2="68305" y2="53645"/>
                              <a14:foregroundMark x1="67895" y1="46028" x2="67731" y2="50942"/>
                              <a14:foregroundMark x1="67568" y1="47502" x2="67568" y2="53071"/>
                              <a14:foregroundMark x1="66912" y1="47093" x2="66912" y2="53071"/>
                              <a14:foregroundMark x1="66912" y1="48894" x2="66912" y2="54136"/>
                              <a14:foregroundMark x1="66912" y1="45864" x2="67240" y2="53399"/>
                              <a14:foregroundMark x1="67404" y1="46355" x2="68141" y2="53972"/>
                              <a14:foregroundMark x1="68141" y1="47420" x2="69124" y2="54791"/>
                              <a14:foregroundMark x1="70025" y1="44308" x2="70188" y2="53071"/>
                              <a14:foregroundMark x1="71253" y1="43407" x2="71253" y2="50287"/>
                              <a14:foregroundMark x1="71253" y1="47256" x2="71253" y2="55528"/>
                              <a14:foregroundMark x1="71826" y1="45536" x2="71826" y2="52907"/>
                              <a14:foregroundMark x1="71826" y1="47093" x2="71826" y2="52580"/>
                              <a14:foregroundMark x1="71663" y1="45536" x2="71663" y2="52580"/>
                              <a14:foregroundMark x1="71663" y1="46028" x2="70925" y2="53563"/>
                              <a14:foregroundMark x1="70925" y1="46765" x2="70925" y2="52907"/>
                              <a14:foregroundMark x1="70925" y1="43898" x2="70598" y2="53235"/>
                              <a14:foregroundMark x1="70598" y1="48321" x2="70352" y2="53071"/>
                              <a14:foregroundMark x1="70188" y1="47256" x2="70352" y2="53972"/>
                              <a14:foregroundMark x1="70352" y1="46601" x2="70352" y2="54136"/>
                              <a14:foregroundMark x1="70352" y1="45700" x2="70352" y2="50614"/>
                              <a14:foregroundMark x1="70352" y1="47093" x2="70352" y2="53071"/>
                              <a14:foregroundMark x1="70352" y1="47502" x2="70188" y2="54300"/>
                              <a14:foregroundMark x1="69369" y1="46028" x2="69206" y2="50614"/>
                              <a14:foregroundMark x1="69206" y1="47666" x2="69206" y2="52416"/>
                              <a14:foregroundMark x1="69206" y1="44963" x2="69206" y2="49713"/>
                              <a14:foregroundMark x1="69206" y1="45536" x2="68960" y2="49959"/>
                              <a14:foregroundMark x1="68960" y1="45209" x2="68305" y2="53563"/>
                              <a14:foregroundMark x1="67731" y1="48731" x2="67731" y2="54464"/>
                              <a14:foregroundMark x1="66912" y1="47093" x2="66912" y2="52334"/>
                              <a14:foregroundMark x1="68059" y1="46192" x2="68468" y2="52334"/>
                              <a14:foregroundMark x1="69369" y1="48321" x2="69861" y2="52580"/>
                              <a14:foregroundMark x1="70598" y1="47256" x2="70925" y2="52907"/>
                              <a14:foregroundMark x1="70925" y1="49386" x2="71417" y2="55528"/>
                              <a14:foregroundMark x1="66667" y1="39885" x2="66667" y2="43079"/>
                              <a14:foregroundMark x1="63882" y1="36364" x2="63882" y2="44144"/>
                              <a14:foregroundMark x1="27518" y1="8108" x2="28583" y2="27518"/>
                              <a14:foregroundMark x1="27846" y1="9091" x2="27928" y2="15889"/>
                              <a14:foregroundMark x1="28256" y1="9091" x2="27928" y2="15233"/>
                              <a14:foregroundMark x1="27928" y1="9582" x2="27928" y2="15315"/>
                              <a14:foregroundMark x1="27518" y1="8518" x2="28583" y2="33743"/>
                              <a14:foregroundMark x1="28010" y1="9500" x2="28256" y2="33170"/>
                              <a14:foregroundMark x1="29238" y1="17199" x2="29238" y2="27027"/>
                              <a14:foregroundMark x1="28829" y1="20147" x2="28665" y2="29484"/>
                              <a14:foregroundMark x1="28665" y1="18509" x2="28665" y2="29975"/>
                              <a14:foregroundMark x1="28419" y1="18591" x2="28337" y2="29730"/>
                              <a14:foregroundMark x1="28256" y1="16462" x2="28256" y2="25471"/>
                              <a14:foregroundMark x1="27437" y1="9173" x2="27437" y2="20147"/>
                              <a14:foregroundMark x1="28010" y1="9337" x2="28337" y2="26454"/>
                              <a14:foregroundMark x1="28665" y1="8681" x2="28665" y2="17690"/>
                              <a14:foregroundMark x1="27928" y1="9582" x2="27928" y2="16871"/>
                              <a14:foregroundMark x1="27928" y1="10074" x2="27928" y2="16380"/>
                              <a14:foregroundMark x1="27928" y1="9910" x2="28092" y2="16953"/>
                              <a14:foregroundMark x1="27518" y1="10319" x2="28993" y2="23260"/>
                              <a14:foregroundMark x1="27764" y1="16462" x2="28092" y2="24652"/>
                              <a14:foregroundMark x1="27928" y1="18755" x2="27928" y2="22113"/>
                              <a14:foregroundMark x1="27682" y1="19165" x2="28010" y2="23915"/>
                              <a14:foregroundMark x1="29238" y1="36773" x2="28911" y2="43571"/>
                              <a14:foregroundMark x1="28829" y1="37183" x2="28829" y2="41769"/>
                              <a14:foregroundMark x1="28501" y1="36691" x2="28665" y2="40704"/>
                              <a14:foregroundMark x1="28665" y1="34562" x2="29566" y2="42015"/>
                              <a14:foregroundMark x1="29566" y1="33415" x2="30221" y2="41114"/>
                              <a14:foregroundMark x1="30221" y1="32187" x2="30631" y2="40459"/>
                              <a14:foregroundMark x1="30631" y1="26699" x2="30631" y2="33989"/>
                              <a14:foregroundMark x1="29484" y1="26699" x2="29484" y2="34808"/>
                              <a14:foregroundMark x1="28993" y1="24980" x2="29075" y2="33088"/>
                              <a14:foregroundMark x1="28501" y1="23833" x2="28501" y2="32596"/>
                              <a14:foregroundMark x1="28501" y1="23260" x2="29075" y2="33661"/>
                              <a14:foregroundMark x1="28419" y1="22932" x2="28419" y2="29975"/>
                              <a14:foregroundMark x1="28419" y1="21048" x2="28665" y2="31695"/>
                              <a14:foregroundMark x1="27928" y1="24161" x2="28419" y2="33907"/>
                              <a14:foregroundMark x1="28419" y1="24324" x2="30303" y2="36937"/>
                              <a14:backgroundMark x1="26044" y1="32596" x2="27764" y2="70844"/>
                              <a14:backgroundMark x1="33661" y1="54300" x2="36118" y2="74283"/>
                              <a14:backgroundMark x1="30958" y1="4423" x2="55610" y2="12940"/>
                              <a14:backgroundMark x1="51515" y1="11548" x2="67322" y2="26044"/>
                              <a14:backgroundMark x1="61916" y1="27191" x2="71744" y2="26618"/>
                              <a14:backgroundMark x1="69533" y1="6388" x2="71744" y2="19247"/>
                              <a14:backgroundMark x1="75020" y1="32924" x2="74201" y2="94267"/>
                              <a14:backgroundMark x1="70925" y1="92056" x2="38575" y2="91237"/>
                              <a14:backgroundMark x1="32023" y1="94758" x2="26044" y2="7699"/>
                              <a14:backgroundMark x1="31450" y1="53972" x2="34480" y2="93694"/>
                              <a14:backgroundMark x1="38575" y1="94758" x2="59132" y2="95086"/>
                              <a14:backgroundMark x1="37265" y1="58067" x2="45209" y2="80835"/>
                              <a14:backgroundMark x1="43243" y1="71007" x2="67649" y2="81081"/>
                              <a14:backgroundMark x1="70106" y1="73464" x2="40213" y2="84685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 l="20048" r="23612"/>
                <a:stretch/>
              </p:blipFill>
              <p:spPr bwMode="auto">
                <a:xfrm>
                  <a:off x="-84753" y="2896722"/>
                  <a:ext cx="2238173" cy="397250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grpSp>
          <p:pic>
            <p:nvPicPr>
              <p:cNvPr id="15" name="Picture 3"/>
              <p:cNvPicPr>
                <a:picLocks noChangeAspect="1" noChangeArrowheads="1"/>
              </p:cNvPicPr>
              <p:nvPr/>
            </p:nvPicPr>
            <p:blipFill rotWithShape="1">
              <a:blip r:embed="rId8" cstate="email">
                <a:clrChange>
                  <a:clrFrom>
                    <a:srgbClr val="CBC9CC"/>
                  </a:clrFrom>
                  <a:clrTo>
                    <a:srgbClr val="CBC9CC">
                      <a:alpha val="0"/>
                    </a:srgbClr>
                  </a:clrTo>
                </a:clrChange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2439" b="97073" l="9016" r="67213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100462" y="5057191"/>
                <a:ext cx="1150930" cy="19314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3956256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25/11/2023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2031471" y="2551018"/>
            <a:ext cx="8532178" cy="32647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8" name="Picture 2" descr="http://uconndigitalarts.com/wp-content/uploads/2013/04/original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3958" r="96146">
                        <a14:backgroundMark x1="16667" y1="54630" x2="86042" y2="55185"/>
                        <a14:backgroundMark x1="90625" y1="53889" x2="93125" y2="53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978" b="41311"/>
          <a:stretch/>
        </p:blipFill>
        <p:spPr bwMode="auto">
          <a:xfrm flipH="1">
            <a:off x="3731735" y="2575401"/>
            <a:ext cx="4566901" cy="28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powerpoint.vn\Downloads\1e2cd4b177168ad16ce2e7c504bba4d2.x400.jpe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50" b="81000" l="9971" r="89736">
                        <a14:backgroundMark x1="33724" y1="42750" x2="69208" y2="55250"/>
                        <a14:backgroundMark x1="25806" y1="33250" x2="25806" y2="37500"/>
                        <a14:backgroundMark x1="26100" y1="32250" x2="26100" y2="32250"/>
                        <a14:backgroundMark x1="70674" y1="35750" x2="70674" y2="35750"/>
                        <a14:backgroundMark x1="76246" y1="31250" x2="76246" y2="31250"/>
                        <a14:backgroundMark x1="70968" y1="34750" x2="70968" y2="34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710"/>
          <a:stretch/>
        </p:blipFill>
        <p:spPr bwMode="auto">
          <a:xfrm>
            <a:off x="2567951" y="609600"/>
            <a:ext cx="7256071" cy="282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4102824" y="3124200"/>
            <a:ext cx="4734075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b="1" dirty="0">
                <a:solidFill>
                  <a:schemeClr val="bg1"/>
                </a:solidFill>
              </a:rPr>
              <a:t>DEM</a:t>
            </a:r>
            <a:r>
              <a:rPr lang="en-US" sz="11500" b="1" dirty="0">
                <a:solidFill>
                  <a:schemeClr val="bg1"/>
                </a:solidFill>
              </a:rPr>
              <a:t>O</a:t>
            </a:r>
          </a:p>
          <a:p>
            <a:endParaRPr lang="en-US" dirty="0"/>
          </a:p>
        </p:txBody>
      </p:sp>
      <p:pic>
        <p:nvPicPr>
          <p:cNvPr id="10" name="Picture 2" descr="http://www.designofsignage.com/application/symbol/hands/image/600x600/hand-press-button-4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9500" l="10000" r="90000">
                        <a14:foregroundMark x1="35833" y1="26500" x2="41500" y2="8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5185" y="3568725"/>
            <a:ext cx="3488038" cy="26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8917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2" y="274638"/>
            <a:ext cx="1096994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2" y="1600202"/>
            <a:ext cx="1096994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2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2369C-F4AF-4B38-B46D-61169847CBD1}" type="datetime1">
              <a:rPr lang="en-US" smtClean="0"/>
              <a:t>25/11/2023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6" y="6356352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2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1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85" r:id="rId3"/>
    <p:sldLayoutId id="2147483686" r:id="rId4"/>
    <p:sldLayoutId id="2147483687" r:id="rId5"/>
    <p:sldLayoutId id="2147483673" r:id="rId6"/>
    <p:sldLayoutId id="2147483688" r:id="rId7"/>
    <p:sldLayoutId id="2147483674" r:id="rId8"/>
    <p:sldLayoutId id="2147483675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9" r:id="rId16"/>
    <p:sldLayoutId id="2147483690" r:id="rId17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NHẬp</a:t>
            </a:r>
            <a:r>
              <a:rPr lang="en-US" dirty="0"/>
              <a:t>  MÔN LẬP TRÌNH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cương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681585" y="4800600"/>
            <a:ext cx="7469056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" name="Subtitle 2"/>
          <p:cNvSpPr txBox="1">
            <a:spLocks/>
          </p:cNvSpPr>
          <p:nvPr/>
        </p:nvSpPr>
        <p:spPr>
          <a:xfrm>
            <a:off x="4629293" y="5334000"/>
            <a:ext cx="3141519" cy="83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b="1" kern="1200" cap="small" spc="0" baseline="0">
                <a:ln w="3175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  <a:latin typeface="Segoe UI" pitchFamily="34" charset="0"/>
                <a:ea typeface="+mn-ea"/>
                <a:cs typeface="Segoe UI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FF33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BÀI 6: </a:t>
            </a:r>
            <a:r>
              <a:rPr lang="en-US" sz="2400" dirty="0" err="1">
                <a:solidFill>
                  <a:srgbClr val="FF33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mảng</a:t>
            </a:r>
            <a:endParaRPr lang="en-US" sz="2400" dirty="0">
              <a:solidFill>
                <a:srgbClr val="FF33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en-US" sz="2400" dirty="0">
              <a:solidFill>
                <a:srgbClr val="FF33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863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513012" y="1066800"/>
            <a:ext cx="8229600" cy="5257800"/>
          </a:xfrm>
        </p:spPr>
        <p:txBody>
          <a:bodyPr/>
          <a:lstStyle/>
          <a:p>
            <a:pPr>
              <a:buFont typeface="Wingdings" pitchFamily="2" charset="2"/>
              <a:buChar char="¤"/>
            </a:pP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  <a:p>
            <a:pPr>
              <a:buFont typeface="Wingdings" pitchFamily="2" charset="2"/>
              <a:buChar char="¤"/>
            </a:pP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1 </a:t>
            </a:r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chiều</a:t>
            </a:r>
            <a:endParaRPr lang="en-US" dirty="0"/>
          </a:p>
          <a:p>
            <a:pPr>
              <a:buFont typeface="Wingdings" pitchFamily="2" charset="2"/>
              <a:buChar char="¤"/>
            </a:pP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1 </a:t>
            </a:r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2 </a:t>
            </a:r>
            <a:r>
              <a:rPr lang="en-US" dirty="0" err="1"/>
              <a:t>chiều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 err="1"/>
              <a:t>Duyệt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026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1: </a:t>
            </a:r>
            <a:r>
              <a:rPr lang="en-US" dirty="0" err="1"/>
              <a:t>mảng</a:t>
            </a:r>
            <a:r>
              <a:rPr lang="en-US" dirty="0"/>
              <a:t> 1 </a:t>
            </a:r>
            <a:r>
              <a:rPr lang="en-US" dirty="0" err="1"/>
              <a:t>chiều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92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NỘI DUNG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8012" y="1066800"/>
            <a:ext cx="8229600" cy="5257800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19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8012" y="1219200"/>
            <a:ext cx="11049000" cy="4800600"/>
          </a:xfrm>
        </p:spPr>
        <p:txBody>
          <a:bodyPr/>
          <a:lstStyle/>
          <a:p>
            <a:pPr>
              <a:defRPr/>
            </a:pP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Ví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dụ</a:t>
            </a:r>
            <a:endParaRPr lang="en-US" dirty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lvl="1">
              <a:defRPr/>
            </a:pPr>
            <a:r>
              <a:rPr lang="en-US" dirty="0" err="1"/>
              <a:t>Ch</a:t>
            </a:r>
            <a:r>
              <a:rPr lang="vi-VN" dirty="0"/>
              <a:t>ươ</a:t>
            </a:r>
            <a:r>
              <a:rPr lang="en-US" dirty="0" err="1"/>
              <a:t>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l</a:t>
            </a:r>
            <a:r>
              <a:rPr lang="vi-VN" dirty="0"/>
              <a:t>ư</a:t>
            </a:r>
            <a:r>
              <a:rPr lang="en-US" dirty="0"/>
              <a:t>u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?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dirty="0"/>
              <a:t>	=&gt;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>
                <a:solidFill>
                  <a:srgbClr val="FF0000"/>
                </a:solidFill>
              </a:rPr>
              <a:t> a1, a2, a3;</a:t>
            </a:r>
          </a:p>
          <a:p>
            <a:pPr lvl="1">
              <a:defRPr/>
            </a:pPr>
            <a:r>
              <a:rPr lang="en-US" dirty="0" err="1"/>
              <a:t>Ch</a:t>
            </a:r>
            <a:r>
              <a:rPr lang="vi-VN" dirty="0"/>
              <a:t>ươ</a:t>
            </a:r>
            <a:r>
              <a:rPr lang="en-US" dirty="0" err="1"/>
              <a:t>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l</a:t>
            </a:r>
            <a:r>
              <a:rPr lang="vi-VN" dirty="0"/>
              <a:t>ư</a:t>
            </a:r>
            <a:r>
              <a:rPr lang="en-US" dirty="0"/>
              <a:t>u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100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?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dirty="0"/>
              <a:t>	=&gt;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100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!</a:t>
            </a:r>
          </a:p>
          <a:p>
            <a:pPr lvl="1">
              <a:defRPr/>
            </a:pPr>
            <a:r>
              <a:rPr lang="en-US" dirty="0"/>
              <a:t>Ng</a:t>
            </a:r>
            <a:r>
              <a:rPr lang="vi-VN" dirty="0"/>
              <a:t>ườ</a:t>
            </a:r>
            <a:r>
              <a:rPr lang="en-US" dirty="0"/>
              <a:t>i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?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dirty="0"/>
              <a:t>	=&gt;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vi-VN" dirty="0"/>
              <a:t>đượ</a:t>
            </a:r>
            <a:r>
              <a:rPr lang="en-US" dirty="0"/>
              <a:t>c!</a:t>
            </a:r>
          </a:p>
          <a:p>
            <a:pPr>
              <a:defRPr/>
            </a:pP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Giải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pháp</a:t>
            </a:r>
            <a:endParaRPr lang="en-US" dirty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lvl="1">
              <a:defRPr/>
            </a:pP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l</a:t>
            </a:r>
            <a:r>
              <a:rPr lang="vi-VN" dirty="0">
                <a:solidFill>
                  <a:srgbClr val="FF0000"/>
                </a:solidFill>
              </a:rPr>
              <a:t>ư</a:t>
            </a:r>
            <a:r>
              <a:rPr lang="en-US" dirty="0">
                <a:solidFill>
                  <a:srgbClr val="FF0000"/>
                </a:solidFill>
              </a:rPr>
              <a:t>u </a:t>
            </a:r>
            <a:r>
              <a:rPr lang="en-US" dirty="0" err="1">
                <a:solidFill>
                  <a:srgbClr val="FF0000"/>
                </a:solidFill>
              </a:rPr>
              <a:t>trữ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một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dãy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dễ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dàng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truy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xuất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67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GIỚI THIỆU MẢNG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8012" y="1066800"/>
            <a:ext cx="8229600" cy="5257800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.</a:t>
            </a:r>
          </a:p>
          <a:p>
            <a:pPr>
              <a:buFont typeface="Wingdings" pitchFamily="2" charset="2"/>
              <a:buChar char="q"/>
            </a:pP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cố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.</a:t>
            </a:r>
          </a:p>
          <a:p>
            <a:pPr>
              <a:buFont typeface="Wingdings" pitchFamily="2" charset="2"/>
              <a:buChar char="q"/>
            </a:pP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,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0</a:t>
            </a:r>
          </a:p>
          <a:p>
            <a:pPr>
              <a:buFont typeface="Wingdings" pitchFamily="2" charset="2"/>
              <a:buChar char="q"/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int</a:t>
            </a:r>
            <a:r>
              <a:rPr lang="en-US" dirty="0"/>
              <a:t> a[10] = {5,8,22,1,7,6,11,25,33,9};</a:t>
            </a:r>
          </a:p>
          <a:p>
            <a:endParaRPr lang="en-US" dirty="0"/>
          </a:p>
        </p:txBody>
      </p:sp>
      <p:pic>
        <p:nvPicPr>
          <p:cNvPr id="8" name="Picture 2" descr="java arra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2212" y="4614643"/>
            <a:ext cx="5029200" cy="1861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4352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GIỚI THIỆU MẢNG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nắm</a:t>
            </a:r>
            <a:r>
              <a:rPr lang="en-US" dirty="0"/>
              <a:t> </a:t>
            </a:r>
            <a:r>
              <a:rPr lang="en-US" dirty="0" err="1"/>
              <a:t>giữ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nhanh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dàng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cố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bớt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754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chiều</a:t>
            </a:r>
            <a:endParaRPr lang="en-US" dirty="0"/>
          </a:p>
          <a:p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chiều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2" descr="Kết quả hình ảnh cho mảng nhiều chiề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026" y="4656184"/>
            <a:ext cx="5459578" cy="133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java arra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026" y="2383889"/>
            <a:ext cx="6703854" cy="1861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 rot="16200000">
            <a:off x="1516896" y="3014450"/>
            <a:ext cx="171072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40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 </a:t>
            </a:r>
            <a:r>
              <a:rPr lang="en-US" sz="4000" b="1" cap="none" spc="0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chiều</a:t>
            </a:r>
            <a:endParaRPr lang="en-US" sz="40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 rot="16200000">
            <a:off x="1549397" y="4962894"/>
            <a:ext cx="171072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4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2</a:t>
            </a:r>
            <a:r>
              <a:rPr lang="en-US" sz="40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n-US" sz="4000" b="1" cap="none" spc="0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chiều</a:t>
            </a:r>
            <a:endParaRPr lang="en-US" sz="40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200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KIỂU DỮ LIỆU &amp; BIẾN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08012" y="1066800"/>
            <a:ext cx="10972800" cy="4800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>
                <a:solidFill>
                  <a:srgbClr val="0000FF"/>
                </a:solidFill>
              </a:rPr>
              <a:t>kiểu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dữ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liệu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có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cấu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trúc</a:t>
            </a:r>
            <a:r>
              <a:rPr lang="en-US" dirty="0"/>
              <a:t> do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>
                <a:solidFill>
                  <a:srgbClr val="0000FF"/>
                </a:solidFill>
              </a:rPr>
              <a:t>dãy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các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biến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có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cùng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kiểu</a:t>
            </a:r>
            <a:r>
              <a:rPr lang="en-US" dirty="0"/>
              <a:t>.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,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…</a:t>
            </a:r>
          </a:p>
          <a:p>
            <a:pPr>
              <a:lnSpc>
                <a:spcPct val="150000"/>
              </a:lnSpc>
              <a:defRPr/>
            </a:pP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thước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>
                <a:solidFill>
                  <a:srgbClr val="0000FF"/>
                </a:solidFill>
              </a:rPr>
              <a:t>xác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định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ngay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khi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khai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báo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>
                <a:solidFill>
                  <a:srgbClr val="0000FF"/>
                </a:solidFill>
              </a:rPr>
              <a:t>không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bao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giờ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thay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đổi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C </a:t>
            </a:r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>
                <a:solidFill>
                  <a:srgbClr val="0000FF"/>
                </a:solidFill>
              </a:rPr>
              <a:t>một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khối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nhớ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liên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tục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9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012" y="5029087"/>
            <a:ext cx="5166576" cy="150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037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KHAI BÁO MẢNG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1412" y="3170019"/>
            <a:ext cx="5114925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41348" y="2885638"/>
            <a:ext cx="570547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itchFamily="2" charset="2"/>
              <a:buChar char="v"/>
            </a:pP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Ví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dụ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dirty="0"/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Mang1Chieu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10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dirty="0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1404371" y="1682779"/>
            <a:ext cx="8305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kiểu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c</a:t>
            </a:r>
            <a:r>
              <a:rPr lang="vi-VN" sz="2000" b="1" dirty="0">
                <a:latin typeface="Courier New" pitchFamily="49" charset="0"/>
                <a:cs typeface="Courier New" pitchFamily="49" charset="0"/>
              </a:rPr>
              <a:t>ơ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sở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&gt; 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tên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biến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mảng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số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phần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tử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536" y="990599"/>
            <a:ext cx="17652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rgbClr val="FF5A33"/>
              </a:buClr>
              <a:buFont typeface="Wingdings" pitchFamily="2" charset="2"/>
              <a:buChar char="v"/>
            </a:pP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Cú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pháp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3752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1 </a:t>
            </a:r>
            <a:r>
              <a:rPr lang="en-US" dirty="0" err="1"/>
              <a:t>chiều</a:t>
            </a:r>
            <a:r>
              <a:rPr lang="en-US" dirty="0"/>
              <a:t>(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tường</a:t>
            </a:r>
            <a:r>
              <a:rPr lang="en-US" dirty="0"/>
              <a:t> minh)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1" y="3990379"/>
            <a:ext cx="5114925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70714" y="3429000"/>
            <a:ext cx="495776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itchFamily="2" charset="2"/>
              <a:buChar char="v"/>
            </a:pP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Ví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dụ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typedef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Mang1Chieu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10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2">
              <a:lnSpc>
                <a:spcPct val="150000"/>
              </a:lnSpc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Mang1Chieu m1, m2, m3;</a:t>
            </a:r>
          </a:p>
          <a:p>
            <a:pPr lvl="2"/>
            <a:endParaRPr lang="en-US" dirty="0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1502566" y="2286000"/>
            <a:ext cx="83058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typedef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kiểu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c</a:t>
            </a:r>
            <a:r>
              <a:rPr lang="vi-VN" sz="2000" b="1" dirty="0">
                <a:latin typeface="Courier New" pitchFamily="49" charset="0"/>
                <a:cs typeface="Courier New" pitchFamily="49" charset="0"/>
              </a:rPr>
              <a:t>ơ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sở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&gt; 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tên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kiểu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mảng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số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phần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tử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lnSpc>
                <a:spcPct val="150000"/>
              </a:lnSpc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tên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kiểu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mảng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&gt; 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tên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biến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mảng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&gt;;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536" y="990599"/>
            <a:ext cx="17652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rgbClr val="FF5A33"/>
              </a:buClr>
              <a:buFont typeface="Wingdings" pitchFamily="2" charset="2"/>
              <a:buChar char="v"/>
            </a:pP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Cú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pháp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5861" y="1644319"/>
            <a:ext cx="7246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buClr>
                <a:srgbClr val="FF5A33"/>
              </a:buClr>
              <a:buFont typeface="Wingdings" pitchFamily="2" charset="2"/>
              <a:buChar char="q"/>
            </a:pP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Không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t</a:t>
            </a:r>
            <a:r>
              <a:rPr lang="vi-VN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ườ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ng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minh (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thông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qua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khai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báo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kiểu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194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88959" y="838200"/>
            <a:ext cx="1081087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FF3300"/>
              </a:buClr>
              <a:buFont typeface="Wingdings" pitchFamily="2" charset="2"/>
              <a:buChar char="v"/>
            </a:pP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Phải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xác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vi-VN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đị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nh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cụ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thể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số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phần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tử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ngay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lúc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khai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báo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không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vi-VN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đượ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c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sử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dụng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biến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hoặc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hằng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th</a:t>
            </a:r>
            <a:r>
              <a:rPr lang="vi-VN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ườ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ng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n1 = 10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a[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n1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n2 = 20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b[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n2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];</a:t>
            </a:r>
            <a:endParaRPr lang="en-US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8959" y="3230149"/>
            <a:ext cx="1081087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FF3300"/>
              </a:buClr>
              <a:buFont typeface="Wingdings" pitchFamily="2" charset="2"/>
              <a:buChar char="v"/>
            </a:pP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Nên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sử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dụng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chỉ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thị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tiền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xử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lý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#define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vi-VN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để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vi-VN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đị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nh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nghĩa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số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phần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tử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mảng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#define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n1 10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#define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n2 20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a[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n1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];		// </a:t>
            </a:r>
            <a:r>
              <a:rPr lang="en-US" sz="2400" b="1" dirty="0">
                <a:latin typeface="Courier New" pitchFamily="49" charset="0"/>
                <a:cs typeface="Courier New" pitchFamily="49" charset="0"/>
                <a:sym typeface="Wingdings" pitchFamily="2" charset="2"/>
              </a:rPr>
              <a:t>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a[10];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b[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n1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n2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];	// </a:t>
            </a:r>
            <a:r>
              <a:rPr lang="en-US" sz="2400" b="1" dirty="0">
                <a:latin typeface="Courier New" pitchFamily="49" charset="0"/>
                <a:cs typeface="Courier New" pitchFamily="49" charset="0"/>
                <a:sym typeface="Wingdings" pitchFamily="2" charset="2"/>
              </a:rPr>
              <a:t>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b[10][20];//</a:t>
            </a:r>
            <a:r>
              <a:rPr lang="en-US" sz="2000" i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mảng</a:t>
            </a:r>
            <a:r>
              <a:rPr lang="en-US" sz="2000" i="1" dirty="0">
                <a:latin typeface="Tahoma" pitchFamily="34" charset="0"/>
                <a:ea typeface="Tahoma" pitchFamily="34" charset="0"/>
                <a:cs typeface="Tahoma" pitchFamily="34" charset="0"/>
              </a:rPr>
              <a:t> 2 </a:t>
            </a:r>
            <a:r>
              <a:rPr lang="en-US" sz="2000" i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chiều</a:t>
            </a:r>
            <a:endParaRPr lang="en-US" sz="2000" i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52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KHỞI TẠO GIÁ TRỊ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13</a:t>
            </a:fld>
            <a:endParaRPr lang="en-US" dirty="0"/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gray">
          <a:xfrm>
            <a:off x="2895599" y="3200400"/>
            <a:ext cx="1210557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gray">
          <a:xfrm>
            <a:off x="3809999" y="3200400"/>
            <a:ext cx="1210557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gray">
          <a:xfrm>
            <a:off x="4724399" y="3200400"/>
            <a:ext cx="1210557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5638799" y="3200400"/>
            <a:ext cx="1210557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685800" y="1143000"/>
            <a:ext cx="10895012" cy="4800600"/>
          </a:xfrm>
        </p:spPr>
        <p:txBody>
          <a:bodyPr/>
          <a:lstStyle/>
          <a:p>
            <a:pPr>
              <a:buFont typeface="Wingdings" pitchFamily="2" charset="2"/>
              <a:buChar char="v"/>
              <a:defRPr/>
            </a:pP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Gồm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các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cách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sau</a:t>
            </a:r>
            <a:endParaRPr lang="en-US" dirty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lvl="1">
              <a:buFont typeface="Wingdings" pitchFamily="2" charset="2"/>
              <a:buChar char="q"/>
              <a:defRPr/>
            </a:pP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  <a:p>
            <a:pPr>
              <a:defRPr/>
            </a:pPr>
            <a:endParaRPr lang="en-US" dirty="0"/>
          </a:p>
          <a:p>
            <a:pPr lvl="1">
              <a:defRPr/>
            </a:pPr>
            <a:endParaRPr lang="en-US" dirty="0"/>
          </a:p>
          <a:p>
            <a:pPr lvl="1">
              <a:defRPr/>
            </a:pPr>
            <a:endParaRPr lang="en-US" dirty="0"/>
          </a:p>
          <a:p>
            <a:pPr lvl="1">
              <a:buFont typeface="Wingdings" pitchFamily="2" charset="2"/>
              <a:buChar char="q"/>
              <a:defRPr/>
            </a:pPr>
            <a:endParaRPr lang="en-US" dirty="0"/>
          </a:p>
          <a:p>
            <a:pPr lvl="1">
              <a:buFont typeface="Wingdings" pitchFamily="2" charset="2"/>
              <a:buChar char="q"/>
              <a:defRPr/>
            </a:pP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vi-VN" dirty="0"/>
              <a:t>đầ</a:t>
            </a:r>
            <a:r>
              <a:rPr lang="en-US" dirty="0"/>
              <a:t>u </a:t>
            </a:r>
            <a:r>
              <a:rPr lang="en-US" dirty="0" err="1"/>
              <a:t>mảng</a:t>
            </a:r>
            <a:endParaRPr lang="en-US" dirty="0"/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1371599" y="2286000"/>
            <a:ext cx="968445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a[4] = {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2912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1706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1506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1904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16" name="AutoShape 6"/>
          <p:cNvSpPr>
            <a:spLocks noChangeArrowheads="1"/>
          </p:cNvSpPr>
          <p:nvPr/>
        </p:nvSpPr>
        <p:spPr bwMode="gray">
          <a:xfrm>
            <a:off x="2599441" y="3200400"/>
            <a:ext cx="1210557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 dirty="0">
                <a:solidFill>
                  <a:srgbClr val="0000FF"/>
                </a:solidFill>
              </a:rPr>
              <a:t>2912</a:t>
            </a:r>
          </a:p>
        </p:txBody>
      </p:sp>
      <p:sp>
        <p:nvSpPr>
          <p:cNvPr id="17" name="AutoShape 6"/>
          <p:cNvSpPr>
            <a:spLocks noChangeArrowheads="1"/>
          </p:cNvSpPr>
          <p:nvPr/>
        </p:nvSpPr>
        <p:spPr bwMode="gray">
          <a:xfrm>
            <a:off x="3809999" y="3200400"/>
            <a:ext cx="1210557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>
                <a:solidFill>
                  <a:srgbClr val="0000FF"/>
                </a:solidFill>
              </a:rPr>
              <a:t>1706</a:t>
            </a:r>
          </a:p>
        </p:txBody>
      </p:sp>
      <p:sp>
        <p:nvSpPr>
          <p:cNvPr id="18" name="AutoShape 6"/>
          <p:cNvSpPr>
            <a:spLocks noChangeArrowheads="1"/>
          </p:cNvSpPr>
          <p:nvPr/>
        </p:nvSpPr>
        <p:spPr bwMode="gray">
          <a:xfrm>
            <a:off x="5020556" y="3200400"/>
            <a:ext cx="1210557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>
                <a:solidFill>
                  <a:srgbClr val="0000FF"/>
                </a:solidFill>
              </a:rPr>
              <a:t>1506</a:t>
            </a:r>
          </a:p>
        </p:txBody>
      </p:sp>
      <p:sp>
        <p:nvSpPr>
          <p:cNvPr id="19" name="AutoShape 6"/>
          <p:cNvSpPr>
            <a:spLocks noChangeArrowheads="1"/>
          </p:cNvSpPr>
          <p:nvPr/>
        </p:nvSpPr>
        <p:spPr bwMode="gray">
          <a:xfrm>
            <a:off x="6123868" y="3200400"/>
            <a:ext cx="1210557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 dirty="0">
                <a:solidFill>
                  <a:srgbClr val="0000FF"/>
                </a:solidFill>
              </a:rPr>
              <a:t>1904</a:t>
            </a:r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gray">
          <a:xfrm>
            <a:off x="2599442" y="2743200"/>
            <a:ext cx="1210557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</a:t>
            </a:r>
            <a:endParaRPr lang="en-US" baseline="30000"/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gray">
          <a:xfrm>
            <a:off x="3809999" y="2743200"/>
            <a:ext cx="1210557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</a:t>
            </a:r>
            <a:endParaRPr lang="en-US" baseline="30000"/>
          </a:p>
        </p:txBody>
      </p:sp>
      <p:sp>
        <p:nvSpPr>
          <p:cNvPr id="22" name="AutoShape 6"/>
          <p:cNvSpPr>
            <a:spLocks noChangeArrowheads="1"/>
          </p:cNvSpPr>
          <p:nvPr/>
        </p:nvSpPr>
        <p:spPr bwMode="gray">
          <a:xfrm>
            <a:off x="5003269" y="2717800"/>
            <a:ext cx="1210557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</a:t>
            </a:r>
            <a:endParaRPr lang="en-US" baseline="30000"/>
          </a:p>
        </p:txBody>
      </p:sp>
      <p:sp>
        <p:nvSpPr>
          <p:cNvPr id="23" name="AutoShape 6"/>
          <p:cNvSpPr>
            <a:spLocks noChangeArrowheads="1"/>
          </p:cNvSpPr>
          <p:nvPr/>
        </p:nvSpPr>
        <p:spPr bwMode="gray">
          <a:xfrm>
            <a:off x="6136302" y="2724150"/>
            <a:ext cx="1210557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3</a:t>
            </a:r>
            <a:endParaRPr lang="en-US" baseline="30000"/>
          </a:p>
        </p:txBody>
      </p:sp>
      <p:sp>
        <p:nvSpPr>
          <p:cNvPr id="24" name="AutoShape 6"/>
          <p:cNvSpPr>
            <a:spLocks noChangeArrowheads="1"/>
          </p:cNvSpPr>
          <p:nvPr/>
        </p:nvSpPr>
        <p:spPr bwMode="gray">
          <a:xfrm>
            <a:off x="1371599" y="3225800"/>
            <a:ext cx="1210557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dirty="0">
                <a:solidFill>
                  <a:schemeClr val="accent2"/>
                </a:solidFill>
              </a:rPr>
              <a:t>a</a:t>
            </a:r>
            <a:endParaRPr lang="en-US" baseline="30000" dirty="0">
              <a:solidFill>
                <a:schemeClr val="accent2"/>
              </a:solidFill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371599" y="4343400"/>
            <a:ext cx="968445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a[4] = {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2912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1706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gray">
          <a:xfrm>
            <a:off x="3047999" y="5334000"/>
            <a:ext cx="1210557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28" name="AutoShape 6"/>
          <p:cNvSpPr>
            <a:spLocks noChangeArrowheads="1"/>
          </p:cNvSpPr>
          <p:nvPr/>
        </p:nvSpPr>
        <p:spPr bwMode="gray">
          <a:xfrm>
            <a:off x="3962399" y="5334000"/>
            <a:ext cx="1210557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29" name="AutoShape 6"/>
          <p:cNvSpPr>
            <a:spLocks noChangeArrowheads="1"/>
          </p:cNvSpPr>
          <p:nvPr/>
        </p:nvSpPr>
        <p:spPr bwMode="gray">
          <a:xfrm>
            <a:off x="4876799" y="5334000"/>
            <a:ext cx="1210557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30" name="AutoShape 6"/>
          <p:cNvSpPr>
            <a:spLocks noChangeArrowheads="1"/>
          </p:cNvSpPr>
          <p:nvPr/>
        </p:nvSpPr>
        <p:spPr bwMode="gray">
          <a:xfrm>
            <a:off x="5791199" y="5334000"/>
            <a:ext cx="1210557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31" name="AutoShape 6"/>
          <p:cNvSpPr>
            <a:spLocks noChangeArrowheads="1"/>
          </p:cNvSpPr>
          <p:nvPr/>
        </p:nvSpPr>
        <p:spPr bwMode="gray">
          <a:xfrm>
            <a:off x="2599442" y="5334000"/>
            <a:ext cx="1210557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 dirty="0">
                <a:solidFill>
                  <a:srgbClr val="0000FF"/>
                </a:solidFill>
              </a:rPr>
              <a:t>2912</a:t>
            </a:r>
          </a:p>
        </p:txBody>
      </p:sp>
      <p:sp>
        <p:nvSpPr>
          <p:cNvPr id="32" name="AutoShape 6"/>
          <p:cNvSpPr>
            <a:spLocks noChangeArrowheads="1"/>
          </p:cNvSpPr>
          <p:nvPr/>
        </p:nvSpPr>
        <p:spPr bwMode="gray">
          <a:xfrm>
            <a:off x="3741645" y="5334000"/>
            <a:ext cx="1210557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 dirty="0">
                <a:solidFill>
                  <a:srgbClr val="0000FF"/>
                </a:solidFill>
              </a:rPr>
              <a:t>1706</a:t>
            </a:r>
          </a:p>
        </p:txBody>
      </p:sp>
      <p:sp>
        <p:nvSpPr>
          <p:cNvPr id="33" name="AutoShape 6"/>
          <p:cNvSpPr>
            <a:spLocks noChangeArrowheads="1"/>
          </p:cNvSpPr>
          <p:nvPr/>
        </p:nvSpPr>
        <p:spPr bwMode="gray">
          <a:xfrm>
            <a:off x="4952202" y="5334000"/>
            <a:ext cx="1210557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34" name="AutoShape 6"/>
          <p:cNvSpPr>
            <a:spLocks noChangeArrowheads="1"/>
          </p:cNvSpPr>
          <p:nvPr/>
        </p:nvSpPr>
        <p:spPr bwMode="gray">
          <a:xfrm>
            <a:off x="6167082" y="5334000"/>
            <a:ext cx="1210557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35" name="AutoShape 6"/>
          <p:cNvSpPr>
            <a:spLocks noChangeArrowheads="1"/>
          </p:cNvSpPr>
          <p:nvPr/>
        </p:nvSpPr>
        <p:spPr bwMode="gray">
          <a:xfrm>
            <a:off x="2599442" y="4876800"/>
            <a:ext cx="1210557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dirty="0"/>
              <a:t>0</a:t>
            </a:r>
            <a:endParaRPr lang="en-US" baseline="30000" dirty="0"/>
          </a:p>
        </p:txBody>
      </p:sp>
      <p:sp>
        <p:nvSpPr>
          <p:cNvPr id="36" name="AutoShape 6"/>
          <p:cNvSpPr>
            <a:spLocks noChangeArrowheads="1"/>
          </p:cNvSpPr>
          <p:nvPr/>
        </p:nvSpPr>
        <p:spPr bwMode="gray">
          <a:xfrm>
            <a:off x="3737589" y="4876800"/>
            <a:ext cx="1210557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</a:t>
            </a:r>
            <a:endParaRPr lang="en-US" baseline="30000"/>
          </a:p>
        </p:txBody>
      </p:sp>
      <p:sp>
        <p:nvSpPr>
          <p:cNvPr id="37" name="AutoShape 6"/>
          <p:cNvSpPr>
            <a:spLocks noChangeArrowheads="1"/>
          </p:cNvSpPr>
          <p:nvPr/>
        </p:nvSpPr>
        <p:spPr bwMode="gray">
          <a:xfrm>
            <a:off x="4989510" y="4876800"/>
            <a:ext cx="1210557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dirty="0"/>
              <a:t>2</a:t>
            </a:r>
            <a:endParaRPr lang="en-US" baseline="30000" dirty="0"/>
          </a:p>
        </p:txBody>
      </p:sp>
      <p:sp>
        <p:nvSpPr>
          <p:cNvPr id="38" name="AutoShape 6"/>
          <p:cNvSpPr>
            <a:spLocks noChangeArrowheads="1"/>
          </p:cNvSpPr>
          <p:nvPr/>
        </p:nvSpPr>
        <p:spPr bwMode="gray">
          <a:xfrm>
            <a:off x="6162759" y="4876800"/>
            <a:ext cx="1210557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3</a:t>
            </a:r>
            <a:endParaRPr lang="en-US" baseline="30000"/>
          </a:p>
        </p:txBody>
      </p:sp>
      <p:sp>
        <p:nvSpPr>
          <p:cNvPr id="39" name="AutoShape 6"/>
          <p:cNvSpPr>
            <a:spLocks noChangeArrowheads="1"/>
          </p:cNvSpPr>
          <p:nvPr/>
        </p:nvSpPr>
        <p:spPr bwMode="gray">
          <a:xfrm>
            <a:off x="1388885" y="5346700"/>
            <a:ext cx="1210557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accent2"/>
                </a:solidFill>
              </a:rPr>
              <a:t>a</a:t>
            </a:r>
            <a:endParaRPr lang="en-US" baseline="300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0064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5" grpId="0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(</a:t>
            </a:r>
            <a:r>
              <a:rPr lang="en-US" dirty="0" err="1"/>
              <a:t>tt</a:t>
            </a:r>
            <a:r>
              <a:rPr lang="en-US" dirty="0"/>
              <a:t>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14</a:t>
            </a:fld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663661" y="1016000"/>
            <a:ext cx="10895012" cy="5308600"/>
          </a:xfrm>
        </p:spPr>
        <p:txBody>
          <a:bodyPr/>
          <a:lstStyle/>
          <a:p>
            <a:pPr lvl="1">
              <a:buFont typeface="Wingdings" pitchFamily="2" charset="2"/>
              <a:buChar char="q"/>
              <a:defRPr/>
            </a:pP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</a:rPr>
              <a:t>0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  <a:p>
            <a:pPr>
              <a:defRPr/>
            </a:pPr>
            <a:endParaRPr lang="en-US" dirty="0"/>
          </a:p>
          <a:p>
            <a:pPr lvl="1">
              <a:defRPr/>
            </a:pPr>
            <a:endParaRPr lang="en-US" dirty="0"/>
          </a:p>
          <a:p>
            <a:pPr lvl="1">
              <a:defRPr/>
            </a:pPr>
            <a:endParaRPr lang="en-US" dirty="0"/>
          </a:p>
          <a:p>
            <a:pPr marL="457200" lvl="1" indent="0">
              <a:buNone/>
              <a:defRPr/>
            </a:pPr>
            <a:endParaRPr lang="en-US" dirty="0"/>
          </a:p>
          <a:p>
            <a:pPr lvl="1">
              <a:buFont typeface="Wingdings" pitchFamily="2" charset="2"/>
              <a:buChar char="q"/>
              <a:defRPr/>
            </a:pPr>
            <a:r>
              <a:rPr lang="en-US" dirty="0" err="1"/>
              <a:t>Tự</a:t>
            </a:r>
            <a:r>
              <a:rPr lang="en-US" dirty="0"/>
              <a:t> </a:t>
            </a:r>
            <a:r>
              <a:rPr lang="vi-VN" dirty="0"/>
              <a:t>độ</a:t>
            </a:r>
            <a:r>
              <a:rPr lang="en-US" dirty="0" err="1"/>
              <a:t>ng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vi-VN" dirty="0"/>
              <a:t>đị</a:t>
            </a:r>
            <a:r>
              <a:rPr lang="en-US" dirty="0" err="1"/>
              <a:t>nh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l</a:t>
            </a:r>
            <a:r>
              <a:rPr lang="vi-VN" dirty="0"/>
              <a:t>ượ</a:t>
            </a:r>
            <a:r>
              <a:rPr lang="en-US" dirty="0" err="1"/>
              <a:t>ng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</p:txBody>
      </p:sp>
      <p:sp>
        <p:nvSpPr>
          <p:cNvPr id="16" name="AutoShape 6"/>
          <p:cNvSpPr>
            <a:spLocks noChangeArrowheads="1"/>
          </p:cNvSpPr>
          <p:nvPr/>
        </p:nvSpPr>
        <p:spPr bwMode="gray">
          <a:xfrm>
            <a:off x="2548374" y="2578100"/>
            <a:ext cx="1210557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 dirty="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17" name="AutoShape 6"/>
          <p:cNvSpPr>
            <a:spLocks noChangeArrowheads="1"/>
          </p:cNvSpPr>
          <p:nvPr/>
        </p:nvSpPr>
        <p:spPr bwMode="gray">
          <a:xfrm>
            <a:off x="3758932" y="2578100"/>
            <a:ext cx="1210557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 dirty="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18" name="AutoShape 6"/>
          <p:cNvSpPr>
            <a:spLocks noChangeArrowheads="1"/>
          </p:cNvSpPr>
          <p:nvPr/>
        </p:nvSpPr>
        <p:spPr bwMode="gray">
          <a:xfrm>
            <a:off x="4969489" y="2578100"/>
            <a:ext cx="1210557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 dirty="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19" name="AutoShape 6"/>
          <p:cNvSpPr>
            <a:spLocks noChangeArrowheads="1"/>
          </p:cNvSpPr>
          <p:nvPr/>
        </p:nvSpPr>
        <p:spPr bwMode="gray">
          <a:xfrm>
            <a:off x="6191158" y="2578100"/>
            <a:ext cx="1210557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 dirty="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gray">
          <a:xfrm>
            <a:off x="2548375" y="2120900"/>
            <a:ext cx="1210557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</a:t>
            </a:r>
            <a:endParaRPr lang="en-US" baseline="30000"/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gray">
          <a:xfrm>
            <a:off x="3758932" y="2120900"/>
            <a:ext cx="1210557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</a:t>
            </a:r>
            <a:endParaRPr lang="en-US" baseline="30000"/>
          </a:p>
        </p:txBody>
      </p:sp>
      <p:sp>
        <p:nvSpPr>
          <p:cNvPr id="22" name="AutoShape 6"/>
          <p:cNvSpPr>
            <a:spLocks noChangeArrowheads="1"/>
          </p:cNvSpPr>
          <p:nvPr/>
        </p:nvSpPr>
        <p:spPr bwMode="gray">
          <a:xfrm>
            <a:off x="4952202" y="2095500"/>
            <a:ext cx="1210557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</a:t>
            </a:r>
            <a:endParaRPr lang="en-US" baseline="30000"/>
          </a:p>
        </p:txBody>
      </p:sp>
      <p:sp>
        <p:nvSpPr>
          <p:cNvPr id="23" name="AutoShape 6"/>
          <p:cNvSpPr>
            <a:spLocks noChangeArrowheads="1"/>
          </p:cNvSpPr>
          <p:nvPr/>
        </p:nvSpPr>
        <p:spPr bwMode="gray">
          <a:xfrm>
            <a:off x="6085235" y="2101850"/>
            <a:ext cx="1210557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3</a:t>
            </a:r>
            <a:endParaRPr lang="en-US" baseline="30000"/>
          </a:p>
        </p:txBody>
      </p:sp>
      <p:sp>
        <p:nvSpPr>
          <p:cNvPr id="24" name="AutoShape 6"/>
          <p:cNvSpPr>
            <a:spLocks noChangeArrowheads="1"/>
          </p:cNvSpPr>
          <p:nvPr/>
        </p:nvSpPr>
        <p:spPr bwMode="gray">
          <a:xfrm>
            <a:off x="1320532" y="2603500"/>
            <a:ext cx="1210557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dirty="0">
                <a:solidFill>
                  <a:schemeClr val="accent2"/>
                </a:solidFill>
              </a:rPr>
              <a:t>a</a:t>
            </a:r>
            <a:endParaRPr lang="en-US" baseline="30000" dirty="0">
              <a:solidFill>
                <a:schemeClr val="accent2"/>
              </a:solidFill>
            </a:endParaRPr>
          </a:p>
        </p:txBody>
      </p:sp>
      <p:sp>
        <p:nvSpPr>
          <p:cNvPr id="31" name="AutoShape 6"/>
          <p:cNvSpPr>
            <a:spLocks noChangeArrowheads="1"/>
          </p:cNvSpPr>
          <p:nvPr/>
        </p:nvSpPr>
        <p:spPr bwMode="gray">
          <a:xfrm>
            <a:off x="2536292" y="4987925"/>
            <a:ext cx="1210557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 dirty="0">
                <a:solidFill>
                  <a:srgbClr val="0000FF"/>
                </a:solidFill>
              </a:rPr>
              <a:t>2912</a:t>
            </a:r>
          </a:p>
        </p:txBody>
      </p:sp>
      <p:sp>
        <p:nvSpPr>
          <p:cNvPr id="32" name="AutoShape 6"/>
          <p:cNvSpPr>
            <a:spLocks noChangeArrowheads="1"/>
          </p:cNvSpPr>
          <p:nvPr/>
        </p:nvSpPr>
        <p:spPr bwMode="gray">
          <a:xfrm>
            <a:off x="3778157" y="4987925"/>
            <a:ext cx="1210557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 dirty="0">
                <a:solidFill>
                  <a:srgbClr val="0000FF"/>
                </a:solidFill>
              </a:rPr>
              <a:t>1706</a:t>
            </a:r>
          </a:p>
        </p:txBody>
      </p:sp>
      <p:sp>
        <p:nvSpPr>
          <p:cNvPr id="33" name="AutoShape 6"/>
          <p:cNvSpPr>
            <a:spLocks noChangeArrowheads="1"/>
          </p:cNvSpPr>
          <p:nvPr/>
        </p:nvSpPr>
        <p:spPr bwMode="gray">
          <a:xfrm>
            <a:off x="4988714" y="4987925"/>
            <a:ext cx="1210557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 dirty="0">
                <a:solidFill>
                  <a:srgbClr val="0000FF"/>
                </a:solidFill>
              </a:rPr>
              <a:t>1506</a:t>
            </a:r>
          </a:p>
        </p:txBody>
      </p:sp>
      <p:sp>
        <p:nvSpPr>
          <p:cNvPr id="34" name="AutoShape 6"/>
          <p:cNvSpPr>
            <a:spLocks noChangeArrowheads="1"/>
          </p:cNvSpPr>
          <p:nvPr/>
        </p:nvSpPr>
        <p:spPr bwMode="gray">
          <a:xfrm>
            <a:off x="6191158" y="4987925"/>
            <a:ext cx="1210557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 dirty="0">
                <a:solidFill>
                  <a:srgbClr val="0000FF"/>
                </a:solidFill>
              </a:rPr>
              <a:t>1904</a:t>
            </a:r>
          </a:p>
        </p:txBody>
      </p:sp>
      <p:sp>
        <p:nvSpPr>
          <p:cNvPr id="35" name="AutoShape 6"/>
          <p:cNvSpPr>
            <a:spLocks noChangeArrowheads="1"/>
          </p:cNvSpPr>
          <p:nvPr/>
        </p:nvSpPr>
        <p:spPr bwMode="gray">
          <a:xfrm>
            <a:off x="2536292" y="4530725"/>
            <a:ext cx="1210557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dirty="0"/>
              <a:t>0</a:t>
            </a:r>
            <a:endParaRPr lang="en-US" baseline="30000" dirty="0"/>
          </a:p>
        </p:txBody>
      </p:sp>
      <p:sp>
        <p:nvSpPr>
          <p:cNvPr id="36" name="AutoShape 6"/>
          <p:cNvSpPr>
            <a:spLocks noChangeArrowheads="1"/>
          </p:cNvSpPr>
          <p:nvPr/>
        </p:nvSpPr>
        <p:spPr bwMode="gray">
          <a:xfrm>
            <a:off x="3674439" y="4530725"/>
            <a:ext cx="1210557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</a:t>
            </a:r>
            <a:endParaRPr lang="en-US" baseline="30000"/>
          </a:p>
        </p:txBody>
      </p:sp>
      <p:sp>
        <p:nvSpPr>
          <p:cNvPr id="37" name="AutoShape 6"/>
          <p:cNvSpPr>
            <a:spLocks noChangeArrowheads="1"/>
          </p:cNvSpPr>
          <p:nvPr/>
        </p:nvSpPr>
        <p:spPr bwMode="gray">
          <a:xfrm>
            <a:off x="4926360" y="4530725"/>
            <a:ext cx="1210557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dirty="0"/>
              <a:t>2</a:t>
            </a:r>
            <a:endParaRPr lang="en-US" baseline="30000" dirty="0"/>
          </a:p>
        </p:txBody>
      </p:sp>
      <p:sp>
        <p:nvSpPr>
          <p:cNvPr id="38" name="AutoShape 6"/>
          <p:cNvSpPr>
            <a:spLocks noChangeArrowheads="1"/>
          </p:cNvSpPr>
          <p:nvPr/>
        </p:nvSpPr>
        <p:spPr bwMode="gray">
          <a:xfrm>
            <a:off x="6099609" y="4530725"/>
            <a:ext cx="1210557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3</a:t>
            </a:r>
            <a:endParaRPr lang="en-US" baseline="30000"/>
          </a:p>
        </p:txBody>
      </p:sp>
      <p:sp>
        <p:nvSpPr>
          <p:cNvPr id="39" name="AutoShape 6"/>
          <p:cNvSpPr>
            <a:spLocks noChangeArrowheads="1"/>
          </p:cNvSpPr>
          <p:nvPr/>
        </p:nvSpPr>
        <p:spPr bwMode="gray">
          <a:xfrm>
            <a:off x="1288954" y="5038725"/>
            <a:ext cx="1210557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accent2"/>
                </a:solidFill>
              </a:rPr>
              <a:t>a</a:t>
            </a:r>
            <a:endParaRPr lang="en-US" baseline="30000">
              <a:solidFill>
                <a:schemeClr val="accent2"/>
              </a:solidFill>
            </a:endParaRPr>
          </a:p>
        </p:txBody>
      </p: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1515356" y="1676400"/>
            <a:ext cx="7315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a[4] = {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1528055" y="4092575"/>
            <a:ext cx="7315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a[] = {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2912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1706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1506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1904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439243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1" grpId="0"/>
      <p:bldP spid="4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TRUY XUẤT MẢNG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8012" y="1066800"/>
            <a:ext cx="11049000" cy="5257800"/>
          </a:xfrm>
        </p:spPr>
        <p:txBody>
          <a:bodyPr/>
          <a:lstStyle/>
          <a:p>
            <a:pPr>
              <a:buFont typeface="Wingdings" pitchFamily="2" charset="2"/>
              <a:buChar char="v"/>
              <a:defRPr/>
            </a:pP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Thông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qua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chỉ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số</a:t>
            </a:r>
            <a:endParaRPr lang="en-US" dirty="0">
              <a:solidFill>
                <a:schemeClr val="tx1">
                  <a:lumMod val="60000"/>
                  <a:lumOff val="40000"/>
                </a:schemeClr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>
              <a:defRPr/>
            </a:pPr>
            <a:endParaRPr lang="en-US" dirty="0"/>
          </a:p>
          <a:p>
            <a:pPr>
              <a:buFont typeface="Wingdings" pitchFamily="2" charset="2"/>
              <a:buChar char="v"/>
              <a:defRPr/>
            </a:pP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Ví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dụ</a:t>
            </a:r>
            <a:endParaRPr lang="en-US" dirty="0">
              <a:solidFill>
                <a:schemeClr val="tx1">
                  <a:lumMod val="60000"/>
                  <a:lumOff val="40000"/>
                </a:schemeClr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>
              <a:buFont typeface="Wingdings" pitchFamily="2" charset="2"/>
              <a:buChar char="q"/>
              <a:defRPr/>
            </a:pP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Cho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mảng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nh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ư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sau</a:t>
            </a:r>
            <a:endParaRPr lang="en-US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457200" lvl="1" indent="0">
              <a:buNone/>
              <a:defRPr/>
            </a:pPr>
            <a:endParaRPr lang="en-US" dirty="0"/>
          </a:p>
          <a:p>
            <a:pPr marL="457200" lvl="1" indent="0">
              <a:buNone/>
              <a:defRPr/>
            </a:pPr>
            <a:endParaRPr lang="en-US" dirty="0"/>
          </a:p>
          <a:p>
            <a:pPr lvl="1">
              <a:buFont typeface="Wingdings" pitchFamily="2" charset="2"/>
              <a:buChar char="q"/>
              <a:defRPr/>
            </a:pP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Các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truy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xuất</a:t>
            </a:r>
            <a:endParaRPr lang="en-US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2">
              <a:lnSpc>
                <a:spcPct val="150000"/>
              </a:lnSpc>
              <a:defRPr/>
            </a:pP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Hợp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lệ</a:t>
            </a:r>
            <a:r>
              <a:rPr lang="en-US" dirty="0"/>
              <a:t>: a[0], a[1], a[2], a[3]</a:t>
            </a:r>
          </a:p>
          <a:p>
            <a:pPr lvl="2">
              <a:lnSpc>
                <a:spcPct val="150000"/>
              </a:lnSpc>
              <a:defRPr/>
            </a:pPr>
            <a:r>
              <a:rPr lang="en-US" dirty="0" err="1">
                <a:solidFill>
                  <a:srgbClr val="FF0000"/>
                </a:solidFill>
              </a:rPr>
              <a:t>Không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hợp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lệ</a:t>
            </a:r>
            <a:r>
              <a:rPr lang="en-US" dirty="0"/>
              <a:t>: a[-1], a[4], a[5], …</a:t>
            </a:r>
          </a:p>
          <a:p>
            <a:pPr lvl="2">
              <a:lnSpc>
                <a:spcPct val="150000"/>
              </a:lnSpc>
              <a:buFontTx/>
              <a:buNone/>
              <a:defRPr/>
            </a:pPr>
            <a:r>
              <a:rPr lang="en-US" dirty="0"/>
              <a:t>	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370012" y="1600200"/>
            <a:ext cx="7315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tên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biến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mảng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gt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cs1&gt;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gt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cs2&gt;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…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gt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csn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444624" y="3171825"/>
            <a:ext cx="22844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a[4];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gray">
          <a:xfrm>
            <a:off x="3656012" y="3429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gray">
          <a:xfrm>
            <a:off x="4113212" y="3429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gray">
          <a:xfrm>
            <a:off x="4570412" y="3429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gray">
          <a:xfrm>
            <a:off x="5027612" y="3429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3656012" y="29718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dirty="0"/>
              <a:t>0</a:t>
            </a:r>
            <a:endParaRPr lang="en-US" baseline="30000" dirty="0"/>
          </a:p>
        </p:txBody>
      </p:sp>
      <p:sp>
        <p:nvSpPr>
          <p:cNvPr id="13" name="AutoShape 6"/>
          <p:cNvSpPr>
            <a:spLocks noChangeArrowheads="1"/>
          </p:cNvSpPr>
          <p:nvPr/>
        </p:nvSpPr>
        <p:spPr bwMode="gray">
          <a:xfrm>
            <a:off x="4113212" y="29718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dirty="0"/>
              <a:t>1</a:t>
            </a:r>
            <a:endParaRPr lang="en-US" baseline="30000" dirty="0"/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gray">
          <a:xfrm>
            <a:off x="4570412" y="29718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</a:t>
            </a:r>
            <a:endParaRPr lang="en-US" baseline="30000"/>
          </a:p>
        </p:txBody>
      </p:sp>
      <p:sp>
        <p:nvSpPr>
          <p:cNvPr id="15" name="AutoShape 6"/>
          <p:cNvSpPr>
            <a:spLocks noChangeArrowheads="1"/>
          </p:cNvSpPr>
          <p:nvPr/>
        </p:nvSpPr>
        <p:spPr bwMode="gray">
          <a:xfrm>
            <a:off x="5027612" y="29718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3</a:t>
            </a:r>
            <a:endParaRPr lang="en-US" baseline="30000"/>
          </a:p>
        </p:txBody>
      </p:sp>
    </p:spTree>
    <p:extLst>
      <p:ext uri="{BB962C8B-B14F-4D97-AF65-F5344CB8AC3E}">
        <p14:creationId xmlns:p14="http://schemas.microsoft.com/office/powerpoint/2010/main" val="2304894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16</a:t>
            </a:fld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08012" y="1066800"/>
            <a:ext cx="10972800" cy="54102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Char char="v"/>
              <a:defRPr/>
            </a:pPr>
            <a:r>
              <a:rPr lang="en-US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Không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vi-VN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đượ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sử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dụng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phép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gán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thông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th</a:t>
            </a:r>
            <a:r>
              <a:rPr lang="vi-VN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ườ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ng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mà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phải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gán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trực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tiếp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giữa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các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phần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tử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t</a:t>
            </a:r>
            <a:r>
              <a:rPr lang="vi-VN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ươ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ng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ứng</a:t>
            </a:r>
            <a:endParaRPr lang="en-US" dirty="0">
              <a:solidFill>
                <a:schemeClr val="tx1">
                  <a:lumMod val="60000"/>
                  <a:lumOff val="40000"/>
                </a:schemeClr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buFont typeface="Wingdings" pitchFamily="2" charset="2"/>
              <a:buChar char="v"/>
              <a:defRPr/>
            </a:pP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Ví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dụ</a:t>
            </a:r>
            <a:endParaRPr lang="en-US" dirty="0">
              <a:solidFill>
                <a:schemeClr val="tx1">
                  <a:lumMod val="60000"/>
                  <a:lumOff val="40000"/>
                </a:schemeClr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0012" y="2484229"/>
            <a:ext cx="7315200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 strike="sngStrike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000" b="1" strike="sngStrike" dirty="0" err="1">
                <a:latin typeface="Courier New" pitchFamily="49" charset="0"/>
                <a:cs typeface="Courier New" pitchFamily="49" charset="0"/>
              </a:rPr>
              <a:t>biến</a:t>
            </a:r>
            <a:r>
              <a:rPr lang="en-US" sz="2000" b="1" strike="sngStrik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strike="sngStrike" dirty="0" err="1">
                <a:latin typeface="Courier New" pitchFamily="49" charset="0"/>
                <a:cs typeface="Courier New" pitchFamily="49" charset="0"/>
              </a:rPr>
              <a:t>mảng</a:t>
            </a:r>
            <a:r>
              <a:rPr lang="en-US" sz="2000" b="1" strike="sngStrik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vi-VN" sz="2000" b="1" strike="sngStrike" dirty="0">
                <a:latin typeface="Courier New" pitchFamily="49" charset="0"/>
                <a:cs typeface="Courier New" pitchFamily="49" charset="0"/>
              </a:rPr>
              <a:t>đí</a:t>
            </a:r>
            <a:r>
              <a:rPr lang="en-US" sz="2000" b="1" strike="sngStrike" dirty="0" err="1">
                <a:latin typeface="Courier New" pitchFamily="49" charset="0"/>
                <a:cs typeface="Courier New" pitchFamily="49" charset="0"/>
              </a:rPr>
              <a:t>ch</a:t>
            </a:r>
            <a:r>
              <a:rPr lang="en-US" sz="2000" b="1" strike="sngStrike" dirty="0">
                <a:latin typeface="Courier New" pitchFamily="49" charset="0"/>
                <a:cs typeface="Courier New" pitchFamily="49" charset="0"/>
              </a:rPr>
              <a:t>&gt; = &lt;</a:t>
            </a:r>
            <a:r>
              <a:rPr lang="en-US" sz="2000" b="1" strike="sngStrike" dirty="0" err="1">
                <a:latin typeface="Courier New" pitchFamily="49" charset="0"/>
                <a:cs typeface="Courier New" pitchFamily="49" charset="0"/>
              </a:rPr>
              <a:t>biến</a:t>
            </a:r>
            <a:r>
              <a:rPr lang="en-US" sz="2000" b="1" strike="sngStrik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strike="sngStrike" dirty="0" err="1">
                <a:latin typeface="Courier New" pitchFamily="49" charset="0"/>
                <a:cs typeface="Courier New" pitchFamily="49" charset="0"/>
              </a:rPr>
              <a:t>mảng</a:t>
            </a:r>
            <a:r>
              <a:rPr lang="en-US" sz="2000" b="1" strike="sngStrik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strike="sngStrike" dirty="0" err="1">
                <a:latin typeface="Courier New" pitchFamily="49" charset="0"/>
                <a:cs typeface="Courier New" pitchFamily="49" charset="0"/>
              </a:rPr>
              <a:t>nguồn</a:t>
            </a:r>
            <a:r>
              <a:rPr lang="en-US" sz="2000" b="1" strike="sngStrike" dirty="0">
                <a:latin typeface="Courier New" pitchFamily="49" charset="0"/>
                <a:cs typeface="Courier New" pitchFamily="49" charset="0"/>
              </a:rPr>
              <a:t>&gt;;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sai</a:t>
            </a:r>
            <a:endParaRPr lang="en-US" sz="20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biến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mảng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vi-VN" sz="2000" b="1" dirty="0">
                <a:latin typeface="Courier New" pitchFamily="49" charset="0"/>
                <a:cs typeface="Courier New" pitchFamily="49" charset="0"/>
              </a:rPr>
              <a:t>đí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ch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&gt;[&lt;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chỉ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số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thứ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i&gt;] =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&lt;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giá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trị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&gt;;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370012" y="4114800"/>
            <a:ext cx="7315200" cy="2246769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#define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MAX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3</a:t>
            </a:r>
          </a:p>
          <a:p>
            <a:pPr eaLnBrk="1" hangingPunct="1"/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typedef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MangSo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MAX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 eaLnBrk="1" hangingPunct="1"/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MangSo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a = {1, 2, 3}, b;</a:t>
            </a:r>
          </a:p>
          <a:p>
            <a:pPr eaLnBrk="1" hangingPunct="1"/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b = a;			//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Sai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i = 0; i &lt; 3; i++) </a:t>
            </a:r>
          </a:p>
          <a:p>
            <a:pPr eaLnBrk="1" hangingPunct="1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	b[i] = a[i];	//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Đúng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117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Duyệt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1 </a:t>
            </a:r>
            <a:r>
              <a:rPr lang="en-US" dirty="0" err="1"/>
              <a:t>chiều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Content Placeholder 11"/>
          <p:cNvSpPr>
            <a:spLocks noGrp="1"/>
          </p:cNvSpPr>
          <p:nvPr>
            <p:ph idx="1"/>
          </p:nvPr>
        </p:nvSpPr>
        <p:spPr>
          <a:xfrm>
            <a:off x="457200" y="1066800"/>
            <a:ext cx="11199812" cy="9906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Có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thể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sử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dụng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bất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kỳ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vòng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lặp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nào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để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duyệt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mảng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.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Tuy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nhiên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vòng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lặp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thường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được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sử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dụng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để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duyệt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mảng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là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for.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136" y="2209800"/>
            <a:ext cx="5030788" cy="40934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i = 0;</a:t>
            </a:r>
          </a:p>
          <a:p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marks[5];  //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khai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báo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mảng</a:t>
            </a:r>
            <a:endParaRPr lang="en-US" sz="20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marks[0] = 80; //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khởi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tạo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mảng</a:t>
            </a:r>
            <a:endParaRPr lang="en-US" sz="20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marks[1] = 60;</a:t>
            </a:r>
          </a:p>
          <a:p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marks[2] = 70;</a:t>
            </a:r>
          </a:p>
          <a:p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marks[3] = 85;</a:t>
            </a:r>
          </a:p>
          <a:p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marks[4] = 75;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	//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duyệt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mảng</a:t>
            </a:r>
            <a:endParaRPr lang="en-US" sz="20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	for (i = 0; i &lt; 5; i++) {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		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printf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("%d \n", marks[i]);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	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2724" y="2209800"/>
            <a:ext cx="4876800" cy="40934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i = 0;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marks[5]={20, 30, 40, 50, 60};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//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duyệt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mảng</a:t>
            </a:r>
            <a:endParaRPr lang="en-US" sz="20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for (i = 0; i &lt; 5; i++) {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printf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("%d \n", marks[i]);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}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803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18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184638" y="890648"/>
            <a:ext cx="6715150" cy="595547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a[10],x;</a:t>
            </a:r>
          </a:p>
          <a:p>
            <a:pPr>
              <a:lnSpc>
                <a:spcPct val="150000"/>
              </a:lnSpc>
            </a:pPr>
            <a:r>
              <a:rPr lang="nn-NO" b="1" dirty="0">
                <a:latin typeface="Tahoma" pitchFamily="34" charset="0"/>
                <a:ea typeface="Tahoma" pitchFamily="34" charset="0"/>
                <a:cs typeface="Tahoma" pitchFamily="34" charset="0"/>
              </a:rPr>
              <a:t>for(int i = 0; i &lt; 10; i++) {   //nhập giá trị vào mảng</a:t>
            </a:r>
            <a:br>
              <a:rPr lang="nn-NO" dirty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nn-NO" dirty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nn-NO" b="1" dirty="0">
                <a:latin typeface="Tahoma" pitchFamily="34" charset="0"/>
                <a:ea typeface="Tahoma" pitchFamily="34" charset="0"/>
                <a:cs typeface="Tahoma" pitchFamily="34" charset="0"/>
              </a:rPr>
              <a:t>scanf("%d", &amp;a[i]); </a:t>
            </a:r>
            <a:br>
              <a:rPr lang="nn-NO" dirty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nn-NO" b="1" dirty="0">
                <a:latin typeface="Tahoma" pitchFamily="34" charset="0"/>
                <a:ea typeface="Tahoma" pitchFamily="34" charset="0"/>
                <a:cs typeface="Tahoma" pitchFamily="34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nn-NO" b="1" dirty="0">
                <a:latin typeface="Tahoma" pitchFamily="34" charset="0"/>
                <a:ea typeface="Tahoma" pitchFamily="34" charset="0"/>
                <a:cs typeface="Tahoma" pitchFamily="34" charset="0"/>
              </a:rPr>
              <a:t>for (int i = 0; i &lt; 10; i++) { //hiển thị giá trị mảng</a:t>
            </a:r>
            <a:br>
              <a:rPr lang="nn-NO" dirty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nn-NO" dirty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nn-NO" b="1" dirty="0">
                <a:latin typeface="Tahoma" pitchFamily="34" charset="0"/>
                <a:ea typeface="Tahoma" pitchFamily="34" charset="0"/>
                <a:cs typeface="Tahoma" pitchFamily="34" charset="0"/>
              </a:rPr>
              <a:t>printf("%d", a[i]); </a:t>
            </a:r>
            <a:br>
              <a:rPr lang="nn-NO" dirty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nn-NO" b="1" dirty="0">
                <a:latin typeface="Tahoma" pitchFamily="34" charset="0"/>
                <a:ea typeface="Tahoma" pitchFamily="34" charset="0"/>
                <a:cs typeface="Tahoma" pitchFamily="34" charset="0"/>
              </a:rPr>
              <a:t>}</a:t>
            </a:r>
            <a:b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printf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("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Nhap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phan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tu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can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tim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x = "); </a:t>
            </a:r>
            <a:b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scanf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("%d", &amp;x); </a:t>
            </a:r>
            <a:b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for(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i = 0; i &lt; 10; i++) { </a:t>
            </a:r>
            <a:b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if(x == a[i]) { </a:t>
            </a:r>
            <a:b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printf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("%d co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trong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mang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", x); </a:t>
            </a:r>
            <a:b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break; </a:t>
            </a:r>
            <a:b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en-US" sz="2000" b="1" dirty="0">
                <a:latin typeface="Tahoma" pitchFamily="34" charset="0"/>
                <a:ea typeface="Tahoma" pitchFamily="34" charset="0"/>
                <a:cs typeface="Tahoma" pitchFamily="34" charset="0"/>
              </a:rPr>
              <a:t>} </a:t>
            </a:r>
            <a:endParaRPr lang="en-US" sz="20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4212" y="1143000"/>
            <a:ext cx="2971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v"/>
            </a:pPr>
            <a:r>
              <a:rPr lang="en-US" sz="2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Nhập</a:t>
            </a: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và</a:t>
            </a: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xuất</a:t>
            </a: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giá</a:t>
            </a: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trị</a:t>
            </a: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của</a:t>
            </a: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mảng</a:t>
            </a: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sz="2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sau</a:t>
            </a: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đó</a:t>
            </a: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tìm</a:t>
            </a: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1 </a:t>
            </a:r>
            <a:r>
              <a:rPr lang="en-US" sz="2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giá</a:t>
            </a: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trị</a:t>
            </a: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trong</a:t>
            </a: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mảng</a:t>
            </a: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52746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NHẬP XUẤT DỮ LIỆU TRONG MẢNG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19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CFD2E6-D97C-46CB-950C-3DE712753FCA}"/>
              </a:ext>
            </a:extLst>
          </p:cNvPr>
          <p:cNvSpPr/>
          <p:nvPr/>
        </p:nvSpPr>
        <p:spPr>
          <a:xfrm>
            <a:off x="1469404" y="4921161"/>
            <a:ext cx="9453164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Bài</a:t>
            </a:r>
            <a:r>
              <a:rPr lang="en-US" sz="3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en-US" sz="3600" b="1" cap="none" spc="0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tập</a:t>
            </a:r>
            <a:r>
              <a:rPr lang="en-US" sz="3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:</a:t>
            </a:r>
          </a:p>
          <a:p>
            <a:pPr algn="ctr"/>
            <a:r>
              <a:rPr lang="en-US" sz="3600" b="1" cap="none" spc="0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Nhập</a:t>
            </a:r>
            <a:r>
              <a:rPr lang="en-US" sz="3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en-US" sz="3600" b="1" cap="none" spc="0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vào</a:t>
            </a:r>
            <a:r>
              <a:rPr lang="en-US" sz="3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en-US" sz="3600" b="1" cap="none" spc="0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mảng</a:t>
            </a:r>
            <a:r>
              <a:rPr lang="en-US" sz="3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n </a:t>
            </a:r>
            <a:r>
              <a:rPr lang="en-US" sz="3600" b="1" cap="none" spc="0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số</a:t>
            </a:r>
            <a:r>
              <a:rPr lang="en-US" sz="3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en-US" sz="3600" b="1" cap="none" spc="0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nguyên</a:t>
            </a:r>
            <a:r>
              <a:rPr lang="en-US" sz="3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. </a:t>
            </a:r>
            <a:r>
              <a:rPr lang="en-US" sz="3600" b="1" cap="none" spc="0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Xuất</a:t>
            </a:r>
            <a:r>
              <a:rPr lang="en-US" sz="3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ra </a:t>
            </a:r>
            <a:r>
              <a:rPr lang="en-US" sz="3600" b="1" cap="none" spc="0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các</a:t>
            </a:r>
            <a:r>
              <a:rPr lang="en-US" sz="3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en-US" sz="3600" b="1" cap="none" spc="0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số</a:t>
            </a:r>
            <a:r>
              <a:rPr lang="en-US" sz="3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en-US" sz="3600" b="1" cap="none" spc="0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chẵn</a:t>
            </a:r>
            <a:endParaRPr lang="en-US" sz="36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35998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20</a:t>
            </a:fld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þ"/>
            </a:pP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  <a:p>
            <a:pPr>
              <a:buFont typeface="Wingdings" pitchFamily="2" charset="2"/>
              <a:buChar char="þ"/>
            </a:pP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 err="1"/>
              <a:t>Duyệt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604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CHÈN QUIZ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963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33045" y="5029201"/>
            <a:ext cx="39976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Nhập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mảng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số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nguyên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từ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bàn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phím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dirty="0" err="1">
                <a:solidFill>
                  <a:schemeClr val="bg1"/>
                </a:solidFill>
              </a:rPr>
              <a:t>và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xuất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các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giá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trị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số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chẵn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trong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mảng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93149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LƯU Ý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23</a:t>
            </a:fld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8012" y="1066800"/>
            <a:ext cx="10972800" cy="5181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  <a:defRPr/>
            </a:pP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Khai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báo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không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chỉ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rõ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số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l</a:t>
            </a:r>
            <a:r>
              <a:rPr lang="vi-VN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ượ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ng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phần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tử</a:t>
            </a:r>
            <a:endParaRPr lang="en-US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>
              <a:buFont typeface="Wingdings" pitchFamily="2" charset="2"/>
              <a:buChar char="q"/>
              <a:defRPr/>
            </a:pP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a</a:t>
            </a:r>
            <a:r>
              <a:rPr lang="en-US" sz="24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[]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; =&gt;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a[100];</a:t>
            </a:r>
          </a:p>
          <a:p>
            <a:pPr>
              <a:buFont typeface="Wingdings" pitchFamily="2" charset="2"/>
              <a:buChar char="v"/>
              <a:defRPr/>
            </a:pP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Số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l</a:t>
            </a:r>
            <a:r>
              <a:rPr lang="vi-VN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ượ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ng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phần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tử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liên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quan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vi-VN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đế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n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biến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hoặc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hằng</a:t>
            </a:r>
            <a:endParaRPr lang="en-US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>
              <a:buFont typeface="Wingdings" pitchFamily="2" charset="2"/>
              <a:buChar char="q"/>
              <a:defRPr/>
            </a:pP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n1 = 10;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a[</a:t>
            </a:r>
            <a:r>
              <a:rPr lang="en-US" sz="24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n1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]; =&gt;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a[10];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const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n2 = 10;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a[</a:t>
            </a:r>
            <a:r>
              <a:rPr lang="en-US" sz="24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n2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]; =&gt;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a[10];</a:t>
            </a:r>
          </a:p>
          <a:p>
            <a:pPr>
              <a:buFont typeface="Wingdings" pitchFamily="2" charset="2"/>
              <a:buChar char="v"/>
              <a:defRPr/>
            </a:pP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Khởi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tạo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cách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biệt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với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khai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báo</a:t>
            </a:r>
            <a:endParaRPr lang="en-US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>
              <a:buFont typeface="Wingdings" pitchFamily="2" charset="2"/>
              <a:buChar char="q"/>
              <a:defRPr/>
            </a:pP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a[4]; a = {2912, 1706, 1506, 1904};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	=&gt;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a[4] = {2912, 1706, 1506, 1904};</a:t>
            </a:r>
          </a:p>
          <a:p>
            <a:pPr>
              <a:buFont typeface="Wingdings" pitchFamily="2" charset="2"/>
              <a:buChar char="v"/>
              <a:defRPr/>
            </a:pP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Chỉ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số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mảng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không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hợp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lệ</a:t>
            </a:r>
            <a:endParaRPr lang="en-US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>
              <a:buFont typeface="Wingdings" pitchFamily="2" charset="2"/>
              <a:buChar char="q"/>
              <a:defRPr/>
            </a:pP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a[4];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a[</a:t>
            </a:r>
            <a:r>
              <a:rPr lang="en-US" sz="24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-1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] = 1; a[</a:t>
            </a:r>
            <a:r>
              <a:rPr lang="en-US" sz="24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10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] = 0;</a:t>
            </a:r>
          </a:p>
        </p:txBody>
      </p:sp>
    </p:spTree>
    <p:extLst>
      <p:ext uri="{BB962C8B-B14F-4D97-AF65-F5344CB8AC3E}">
        <p14:creationId xmlns:p14="http://schemas.microsoft.com/office/powerpoint/2010/main" val="3695312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2: SẮP XẾP MẢNG &amp; </a:t>
            </a:r>
            <a:r>
              <a:rPr lang="en-US" dirty="0" err="1"/>
              <a:t>mảng</a:t>
            </a:r>
            <a:r>
              <a:rPr lang="en-US" dirty="0"/>
              <a:t> 2 </a:t>
            </a:r>
            <a:r>
              <a:rPr lang="en-US" dirty="0" err="1"/>
              <a:t>chiều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476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SẮP XẾP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25</a:t>
            </a:fld>
            <a:endParaRPr lang="en-US" dirty="0"/>
          </a:p>
        </p:txBody>
      </p:sp>
      <p:sp>
        <p:nvSpPr>
          <p:cNvPr id="9" name="Content Placeholder 6"/>
          <p:cNvSpPr>
            <a:spLocks noGrp="1"/>
          </p:cNvSpPr>
          <p:nvPr>
            <p:ph idx="1"/>
          </p:nvPr>
        </p:nvSpPr>
        <p:spPr>
          <a:xfrm>
            <a:off x="608012" y="990600"/>
            <a:ext cx="10896600" cy="3657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cao</a:t>
            </a:r>
            <a:endParaRPr lang="en-US" dirty="0"/>
          </a:p>
          <a:p>
            <a:pPr>
              <a:buFont typeface="Wingdings" pitchFamily="2" charset="2"/>
              <a:buChar char="v"/>
            </a:pP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thấp</a:t>
            </a:r>
            <a:endParaRPr lang="en-US" dirty="0"/>
          </a:p>
          <a:p>
            <a:pPr>
              <a:buFont typeface="Wingdings" pitchFamily="2" charset="2"/>
              <a:buChar char="v"/>
            </a:pP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phim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lượt</a:t>
            </a:r>
            <a:r>
              <a:rPr lang="en-US" dirty="0"/>
              <a:t> </a:t>
            </a:r>
            <a:r>
              <a:rPr lang="en-US" dirty="0" err="1"/>
              <a:t>xem</a:t>
            </a:r>
            <a:endParaRPr lang="en-US" dirty="0"/>
          </a:p>
          <a:p>
            <a:pPr>
              <a:buFont typeface="Wingdings" pitchFamily="2" charset="2"/>
              <a:buChar char="v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206" y="2971800"/>
            <a:ext cx="6018212" cy="317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796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SẮP XẾP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26</a:t>
            </a:fld>
            <a:endParaRPr lang="en-US" dirty="0"/>
          </a:p>
        </p:txBody>
      </p:sp>
      <p:sp>
        <p:nvSpPr>
          <p:cNvPr id="9" name="Content Placeholder 6"/>
          <p:cNvSpPr>
            <a:spLocks noGrp="1"/>
          </p:cNvSpPr>
          <p:nvPr>
            <p:ph idx="1"/>
          </p:nvPr>
        </p:nvSpPr>
        <p:spPr>
          <a:xfrm>
            <a:off x="608012" y="990600"/>
            <a:ext cx="10896600" cy="3657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: </a:t>
            </a:r>
            <a:r>
              <a:rPr lang="vi-VN" dirty="0"/>
              <a:t>Sắp xếp là sắp đặt các phần tử của một cấu trúc theo thứ tự tăng dần (hay giảm dần). </a:t>
            </a:r>
            <a:endParaRPr lang="en-US" dirty="0"/>
          </a:p>
          <a:p>
            <a:pPr>
              <a:buFont typeface="Wingdings" pitchFamily="2" charset="2"/>
              <a:buChar char="v"/>
            </a:pPr>
            <a:r>
              <a:rPr lang="vi-VN" dirty="0"/>
              <a:t>Với một cấu trúc đã được sắp xếp chúng ta rất thuận tiện khi thực hiện các tác vụ trên cấu trúc như tìm ki</a:t>
            </a:r>
            <a:r>
              <a:rPr lang="en-US" dirty="0"/>
              <a:t>ế</a:t>
            </a:r>
            <a:r>
              <a:rPr lang="vi-VN" dirty="0"/>
              <a:t>m, trích lọc, duyệt cấu trúc ….</a:t>
            </a:r>
            <a:endParaRPr lang="en-US" dirty="0"/>
          </a:p>
          <a:p>
            <a:pPr>
              <a:buFont typeface="Wingdings" pitchFamily="2" charset="2"/>
              <a:buChar char="v"/>
            </a:pP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, </a:t>
            </a:r>
            <a:r>
              <a:rPr lang="en-US" dirty="0" err="1"/>
              <a:t>người</a:t>
            </a:r>
            <a:r>
              <a:rPr lang="en-US" dirty="0"/>
              <a:t> ta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8286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THUẬT TOÁN SẮP XẾP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27</a:t>
            </a:fld>
            <a:endParaRPr lang="en-US" dirty="0"/>
          </a:p>
        </p:txBody>
      </p:sp>
      <p:sp>
        <p:nvSpPr>
          <p:cNvPr id="9" name="Content Placeholder 6"/>
          <p:cNvSpPr>
            <a:spLocks noGrp="1"/>
          </p:cNvSpPr>
          <p:nvPr>
            <p:ph idx="1"/>
          </p:nvPr>
        </p:nvSpPr>
        <p:spPr>
          <a:xfrm>
            <a:off x="608012" y="990600"/>
            <a:ext cx="10896600" cy="47244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fr-FR" dirty="0" err="1"/>
              <a:t>Bubble</a:t>
            </a:r>
            <a:r>
              <a:rPr lang="fr-FR" dirty="0"/>
              <a:t> sort.</a:t>
            </a:r>
          </a:p>
          <a:p>
            <a:pPr>
              <a:buFont typeface="Wingdings" pitchFamily="2" charset="2"/>
              <a:buChar char="v"/>
            </a:pPr>
            <a:r>
              <a:rPr lang="fr-FR"/>
              <a:t>Simple selection sort.</a:t>
            </a:r>
          </a:p>
          <a:p>
            <a:pPr>
              <a:buFont typeface="Wingdings" pitchFamily="2" charset="2"/>
              <a:buChar char="v"/>
            </a:pPr>
            <a:r>
              <a:rPr lang="fr-FR"/>
              <a:t>Simple insertion sort.</a:t>
            </a:r>
          </a:p>
          <a:p>
            <a:pPr>
              <a:buFont typeface="Wingdings" pitchFamily="2" charset="2"/>
              <a:buChar char="v"/>
            </a:pPr>
            <a:r>
              <a:rPr lang="fr-FR"/>
              <a:t>Quick </a:t>
            </a:r>
            <a:r>
              <a:rPr lang="fr-FR" dirty="0"/>
              <a:t>sort.</a:t>
            </a:r>
          </a:p>
          <a:p>
            <a:pPr>
              <a:buFont typeface="Wingdings" pitchFamily="2" charset="2"/>
              <a:buChar char="v"/>
            </a:pPr>
            <a:r>
              <a:rPr lang="fr-FR"/>
              <a:t>Heap </a:t>
            </a:r>
            <a:r>
              <a:rPr lang="fr-FR" dirty="0"/>
              <a:t>sort.</a:t>
            </a:r>
          </a:p>
          <a:p>
            <a:pPr>
              <a:buFont typeface="Wingdings" pitchFamily="2" charset="2"/>
              <a:buChar char="v"/>
            </a:pPr>
            <a:r>
              <a:rPr lang="fr-FR"/>
              <a:t>Shell </a:t>
            </a:r>
            <a:r>
              <a:rPr lang="fr-FR" dirty="0"/>
              <a:t>sort.</a:t>
            </a:r>
          </a:p>
          <a:p>
            <a:pPr>
              <a:buFont typeface="Wingdings" pitchFamily="2" charset="2"/>
              <a:buChar char="v"/>
            </a:pPr>
            <a:r>
              <a:rPr lang="fr-FR" dirty="0" err="1"/>
              <a:t>Merge</a:t>
            </a:r>
            <a:r>
              <a:rPr lang="fr-FR" dirty="0"/>
              <a:t> sort.</a:t>
            </a:r>
          </a:p>
          <a:p>
            <a:pPr>
              <a:buFont typeface="Wingdings" pitchFamily="2" charset="2"/>
              <a:buChar char="v"/>
            </a:pPr>
            <a:r>
              <a:rPr lang="fr-FR" dirty="0" err="1"/>
              <a:t>Radix</a:t>
            </a:r>
            <a:r>
              <a:rPr lang="fr-FR" dirty="0"/>
              <a:t> sort.</a:t>
            </a:r>
          </a:p>
        </p:txBody>
      </p:sp>
    </p:spTree>
    <p:extLst>
      <p:ext uri="{BB962C8B-B14F-4D97-AF65-F5344CB8AC3E}">
        <p14:creationId xmlns:p14="http://schemas.microsoft.com/office/powerpoint/2010/main" val="1437997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28</a:t>
            </a:fld>
            <a:endParaRPr lang="en-US" dirty="0"/>
          </a:p>
        </p:txBody>
      </p:sp>
      <p:sp>
        <p:nvSpPr>
          <p:cNvPr id="9" name="Content Placeholder 6"/>
          <p:cNvSpPr>
            <a:spLocks noGrp="1"/>
          </p:cNvSpPr>
          <p:nvPr>
            <p:ph idx="1"/>
          </p:nvPr>
        </p:nvSpPr>
        <p:spPr>
          <a:xfrm>
            <a:off x="608012" y="990600"/>
            <a:ext cx="10896600" cy="23622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Bubble Sort</a:t>
            </a:r>
            <a:r>
              <a:rPr lang="vi-VN" dirty="0"/>
              <a:t> sẽ duyệt danh sách nhiều lần, trong mỗi lần duyệt sẽ lần lượt so sánh cặp nút thứ i và thứ i+1 và đổi chỗ hai nút này nếu chúng không đúng thứ tự. 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7369" y="2483487"/>
            <a:ext cx="6454775" cy="387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534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29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82414" y="2057400"/>
            <a:ext cx="6705600" cy="45243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a[7]={8,2,6,2,9,1,5};</a:t>
            </a:r>
          </a:p>
          <a:p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, j, temp;</a:t>
            </a:r>
          </a:p>
          <a:p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   for(i=0;i&lt;6;i++){</a:t>
            </a:r>
          </a:p>
          <a:p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for(j=i+1;j&lt;7;j++){</a:t>
            </a:r>
          </a:p>
          <a:p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if(</a:t>
            </a:r>
            <a:r>
              <a:rPr lang="en-US" sz="2400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a[i]&gt;a[j]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</a:p>
          <a:p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    {</a:t>
            </a:r>
          </a:p>
          <a:p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        temp=a[i];</a:t>
            </a:r>
          </a:p>
          <a:p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        a[i]=a[j];</a:t>
            </a:r>
          </a:p>
          <a:p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        a[j]=temp;</a:t>
            </a:r>
          </a:p>
          <a:p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    }</a:t>
            </a:r>
          </a:p>
          <a:p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   	}</a:t>
            </a:r>
          </a:p>
          <a:p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   }</a:t>
            </a:r>
          </a:p>
        </p:txBody>
      </p:sp>
      <p:sp>
        <p:nvSpPr>
          <p:cNvPr id="7" name="Rectangular Callout 6"/>
          <p:cNvSpPr/>
          <p:nvPr/>
        </p:nvSpPr>
        <p:spPr>
          <a:xfrm>
            <a:off x="4497232" y="4495800"/>
            <a:ext cx="3810000" cy="1371600"/>
          </a:xfrm>
          <a:prstGeom prst="wedgeRectCallout">
            <a:avLst>
              <a:gd name="adj1" fmla="val -77571"/>
              <a:gd name="adj2" fmla="val -9355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Nếu</a:t>
            </a:r>
            <a:r>
              <a:rPr lang="en-US" sz="2400" dirty="0"/>
              <a:t> </a:t>
            </a:r>
            <a:r>
              <a:rPr lang="en-US" sz="2400" dirty="0" err="1"/>
              <a:t>thay</a:t>
            </a:r>
            <a:r>
              <a:rPr lang="en-US" sz="2400" dirty="0"/>
              <a:t> </a:t>
            </a:r>
            <a:r>
              <a:rPr lang="en-US" sz="2400" dirty="0" err="1"/>
              <a:t>đổi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tử</a:t>
            </a:r>
            <a:r>
              <a:rPr lang="en-US" sz="2400" dirty="0"/>
              <a:t> so </a:t>
            </a:r>
            <a:r>
              <a:rPr lang="en-US" sz="2400" dirty="0" err="1"/>
              <a:t>sánh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&lt; </a:t>
            </a:r>
            <a:r>
              <a:rPr lang="en-US" sz="2400" dirty="0" err="1"/>
              <a:t>thì</a:t>
            </a:r>
            <a:r>
              <a:rPr lang="en-US" sz="2400" dirty="0"/>
              <a:t> </a:t>
            </a:r>
            <a:r>
              <a:rPr lang="en-US" sz="2400" dirty="0" err="1"/>
              <a:t>thuật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trở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sắp</a:t>
            </a:r>
            <a:r>
              <a:rPr lang="en-US" sz="2400" dirty="0"/>
              <a:t> </a:t>
            </a:r>
            <a:r>
              <a:rPr lang="en-US" sz="2400" dirty="0" err="1"/>
              <a:t>xếp</a:t>
            </a:r>
            <a:r>
              <a:rPr lang="en-US" sz="2400" dirty="0"/>
              <a:t> </a:t>
            </a:r>
            <a:r>
              <a:rPr lang="en-US" sz="2400" dirty="0" err="1"/>
              <a:t>giảm</a:t>
            </a:r>
            <a:r>
              <a:rPr lang="en-US" sz="2400" dirty="0"/>
              <a:t> </a:t>
            </a:r>
            <a:r>
              <a:rPr lang="en-US" sz="2400" dirty="0" err="1"/>
              <a:t>dần</a:t>
            </a:r>
            <a:r>
              <a:rPr lang="en-US" sz="2400" dirty="0"/>
              <a:t>.</a:t>
            </a:r>
          </a:p>
        </p:txBody>
      </p:sp>
      <p:sp>
        <p:nvSpPr>
          <p:cNvPr id="9" name="Content Placeholder 6"/>
          <p:cNvSpPr>
            <a:spLocks noGrp="1"/>
          </p:cNvSpPr>
          <p:nvPr>
            <p:ph idx="1"/>
          </p:nvPr>
        </p:nvSpPr>
        <p:spPr>
          <a:xfrm>
            <a:off x="608012" y="990600"/>
            <a:ext cx="10896600" cy="1066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 err="1"/>
              <a:t>Chúng</a:t>
            </a:r>
            <a:r>
              <a:rPr lang="en-US" dirty="0"/>
              <a:t> ta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dần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dần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473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SẮP XẾP MẢNG SỐ NGUYÊN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93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MẢNG 2 CHIỀU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537" y="990599"/>
            <a:ext cx="10961848" cy="1988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</a:pPr>
            <a:r>
              <a:rPr lang="vi-VN" sz="2800" dirty="0">
                <a:latin typeface="Segoe UI" pitchFamily="34" charset="0"/>
                <a:cs typeface="Segoe UI" pitchFamily="34" charset="0"/>
              </a:rPr>
              <a:t>Mảng 2 chiều trong C được biểu diễn dưới dạng hàng và cột, còn được gọi là ma trận. </a:t>
            </a:r>
            <a:endParaRPr lang="en-US" sz="2800" dirty="0">
              <a:latin typeface="Segoe UI" pitchFamily="34" charset="0"/>
              <a:cs typeface="Segoe UI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</a:pPr>
            <a:r>
              <a:rPr lang="en-US" sz="2800" dirty="0" err="1">
                <a:latin typeface="Segoe UI" pitchFamily="34" charset="0"/>
                <a:cs typeface="Segoe UI" pitchFamily="34" charset="0"/>
              </a:rPr>
              <a:t>Mảng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2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chiều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vi-VN" sz="2800" dirty="0">
                <a:latin typeface="Segoe UI" pitchFamily="34" charset="0"/>
                <a:cs typeface="Segoe UI" pitchFamily="34" charset="0"/>
              </a:rPr>
              <a:t> còn được gọi là mảng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chứ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n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phần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tử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mảng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1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chiều</a:t>
            </a:r>
            <a:endParaRPr lang="en-US" sz="2800" dirty="0">
              <a:latin typeface="Segoe UI" pitchFamily="34" charset="0"/>
              <a:cs typeface="Segoe UI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</a:pPr>
            <a:endParaRPr lang="en-US" sz="2800" dirty="0"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31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212" y="2604193"/>
            <a:ext cx="4675462" cy="3415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067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ỨNG DỤNG CỦA MẢNG ĐA CHIỀU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537" y="990599"/>
            <a:ext cx="6619875" cy="4573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</a:pPr>
            <a:r>
              <a:rPr lang="en-US" sz="2800" dirty="0" err="1">
                <a:latin typeface="Segoe UI" pitchFamily="34" charset="0"/>
                <a:cs typeface="Segoe UI" pitchFamily="34" charset="0"/>
              </a:rPr>
              <a:t>Bàn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cờ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vua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,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cờ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tướng</a:t>
            </a:r>
            <a:endParaRPr lang="en-US" sz="2800" dirty="0">
              <a:latin typeface="Segoe UI" pitchFamily="34" charset="0"/>
              <a:cs typeface="Segoe UI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</a:pPr>
            <a:r>
              <a:rPr lang="en-US" sz="2800" dirty="0" err="1">
                <a:latin typeface="Segoe UI" pitchFamily="34" charset="0"/>
                <a:cs typeface="Segoe UI" pitchFamily="34" charset="0"/>
              </a:rPr>
              <a:t>Xử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lý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đồ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họa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(2D,3D)</a:t>
            </a:r>
          </a:p>
          <a:p>
            <a:pPr marL="342900" indent="-342900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</a:pPr>
            <a:r>
              <a:rPr lang="en-US" sz="2800" dirty="0" err="1">
                <a:latin typeface="Segoe UI" pitchFamily="34" charset="0"/>
                <a:cs typeface="Segoe UI" pitchFamily="34" charset="0"/>
              </a:rPr>
              <a:t>Ứng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dụng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trong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rất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nhiều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các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chương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trình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cần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sự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tính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toán</a:t>
            </a:r>
            <a:endParaRPr lang="en-US" sz="2800" dirty="0">
              <a:latin typeface="Segoe UI" pitchFamily="34" charset="0"/>
              <a:cs typeface="Segoe UI" pitchFamily="34" charset="0"/>
            </a:endParaRPr>
          </a:p>
          <a:p>
            <a:pPr marL="800100" lvl="1" indent="-342900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</a:pP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Xác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suất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thống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kê</a:t>
            </a:r>
            <a:endParaRPr lang="en-US" sz="2800" dirty="0">
              <a:latin typeface="Segoe UI" pitchFamily="34" charset="0"/>
              <a:cs typeface="Segoe UI" pitchFamily="34" charset="0"/>
            </a:endParaRPr>
          </a:p>
          <a:p>
            <a:pPr marL="800100" lvl="1" indent="-342900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</a:pPr>
            <a:r>
              <a:rPr lang="en-US" sz="2800" dirty="0" err="1">
                <a:latin typeface="Segoe UI" pitchFamily="34" charset="0"/>
                <a:cs typeface="Segoe UI" pitchFamily="34" charset="0"/>
              </a:rPr>
              <a:t>Toán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kinh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tế</a:t>
            </a:r>
            <a:endParaRPr lang="en-US" sz="2800" dirty="0">
              <a:latin typeface="Segoe UI" pitchFamily="34" charset="0"/>
              <a:cs typeface="Segoe UI" pitchFamily="34" charset="0"/>
            </a:endParaRPr>
          </a:p>
          <a:p>
            <a:pPr marL="800100" lvl="1" indent="-342900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</a:pPr>
            <a:r>
              <a:rPr lang="en-US" sz="2800" dirty="0">
                <a:latin typeface="Segoe UI" pitchFamily="34" charset="0"/>
                <a:cs typeface="Segoe UI" pitchFamily="34" charset="0"/>
              </a:rPr>
              <a:t>…</a:t>
            </a:r>
          </a:p>
          <a:p>
            <a:pPr marL="342900" indent="-342900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</a:pPr>
            <a:endParaRPr lang="en-US" sz="2800" dirty="0">
              <a:latin typeface="Segoe UI" pitchFamily="34" charset="0"/>
              <a:cs typeface="Segoe UI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</a:pPr>
            <a:endParaRPr lang="en-US" sz="2800" dirty="0"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32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612" y="2971800"/>
            <a:ext cx="4140887" cy="2719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466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KHAI BÁO MẢNG 2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0412" y="2875880"/>
            <a:ext cx="4767264" cy="1557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</a:pP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Ví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dụ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:</a:t>
            </a:r>
          </a:p>
          <a:p>
            <a:pPr>
              <a:spcBef>
                <a:spcPct val="20000"/>
              </a:spcBef>
              <a:buClr>
                <a:srgbClr val="FF5A33"/>
              </a:buClr>
            </a:pPr>
            <a:r>
              <a:rPr lang="en-US" sz="2800" dirty="0">
                <a:latin typeface="Segoe UI" pitchFamily="34" charset="0"/>
                <a:cs typeface="Segoe UI" pitchFamily="34" charset="0"/>
              </a:rPr>
              <a:t>    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int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800">
                <a:latin typeface="Segoe UI" pitchFamily="34" charset="0"/>
                <a:cs typeface="Segoe UI" pitchFamily="34" charset="0"/>
              </a:rPr>
              <a:t>Mang2Chieu[3][5];</a:t>
            </a:r>
            <a:endParaRPr lang="en-US" sz="2800" dirty="0">
              <a:latin typeface="Segoe UI" pitchFamily="34" charset="0"/>
              <a:cs typeface="Segoe UI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</a:pPr>
            <a:endParaRPr lang="en-US" sz="2800" dirty="0"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1374776" y="1742418"/>
            <a:ext cx="8305800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5A33"/>
              </a:buClr>
            </a:pPr>
            <a:r>
              <a:rPr lang="en-US" sz="2400" dirty="0">
                <a:latin typeface="Segoe UI" pitchFamily="34" charset="0"/>
                <a:cs typeface="Segoe UI" pitchFamily="34" charset="0"/>
              </a:rPr>
              <a:t>&lt;</a:t>
            </a:r>
            <a:r>
              <a:rPr lang="en-US" sz="2400" dirty="0" err="1">
                <a:latin typeface="Segoe UI" pitchFamily="34" charset="0"/>
                <a:cs typeface="Segoe UI" pitchFamily="34" charset="0"/>
              </a:rPr>
              <a:t>kiểu</a:t>
            </a:r>
            <a:r>
              <a:rPr lang="en-US" sz="2400" dirty="0">
                <a:latin typeface="Segoe UI" pitchFamily="34" charset="0"/>
                <a:cs typeface="Segoe UI" pitchFamily="34" charset="0"/>
              </a:rPr>
              <a:t> c</a:t>
            </a:r>
            <a:r>
              <a:rPr lang="vi-VN" sz="2400" dirty="0">
                <a:latin typeface="Segoe UI" pitchFamily="34" charset="0"/>
                <a:cs typeface="Segoe UI" pitchFamily="34" charset="0"/>
              </a:rPr>
              <a:t>ơ</a:t>
            </a:r>
            <a:r>
              <a:rPr lang="en-US" sz="24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400" dirty="0" err="1">
                <a:latin typeface="Segoe UI" pitchFamily="34" charset="0"/>
                <a:cs typeface="Segoe UI" pitchFamily="34" charset="0"/>
              </a:rPr>
              <a:t>sở</a:t>
            </a:r>
            <a:r>
              <a:rPr lang="en-US" sz="2400" dirty="0">
                <a:latin typeface="Segoe UI" pitchFamily="34" charset="0"/>
                <a:cs typeface="Segoe UI" pitchFamily="34" charset="0"/>
              </a:rPr>
              <a:t>&gt; &lt;</a:t>
            </a:r>
            <a:r>
              <a:rPr lang="en-US" sz="2400" dirty="0" err="1">
                <a:latin typeface="Segoe UI" pitchFamily="34" charset="0"/>
                <a:cs typeface="Segoe UI" pitchFamily="34" charset="0"/>
              </a:rPr>
              <a:t>tên</a:t>
            </a:r>
            <a:r>
              <a:rPr lang="en-US" sz="24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400" dirty="0" err="1">
                <a:latin typeface="Segoe UI" pitchFamily="34" charset="0"/>
                <a:cs typeface="Segoe UI" pitchFamily="34" charset="0"/>
              </a:rPr>
              <a:t>biến</a:t>
            </a:r>
            <a:r>
              <a:rPr lang="en-US" sz="24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400" dirty="0" err="1">
                <a:latin typeface="Segoe UI" pitchFamily="34" charset="0"/>
                <a:cs typeface="Segoe UI" pitchFamily="34" charset="0"/>
              </a:rPr>
              <a:t>mảng</a:t>
            </a:r>
            <a:r>
              <a:rPr lang="en-US" sz="2400" dirty="0">
                <a:latin typeface="Segoe UI" pitchFamily="34" charset="0"/>
                <a:cs typeface="Segoe UI" pitchFamily="34" charset="0"/>
              </a:rPr>
              <a:t>&gt;[&lt;N1&gt;][&lt;N2&gt;]…[&lt;</a:t>
            </a:r>
            <a:r>
              <a:rPr lang="en-US" sz="2400" dirty="0" err="1">
                <a:latin typeface="Segoe UI" pitchFamily="34" charset="0"/>
                <a:cs typeface="Segoe UI" pitchFamily="34" charset="0"/>
              </a:rPr>
              <a:t>Nn</a:t>
            </a:r>
            <a:r>
              <a:rPr lang="en-US" sz="2400" dirty="0">
                <a:latin typeface="Segoe UI" pitchFamily="34" charset="0"/>
                <a:cs typeface="Segoe UI" pitchFamily="34" charset="0"/>
              </a:rPr>
              <a:t>&gt;];</a:t>
            </a:r>
          </a:p>
          <a:p>
            <a:pPr marL="0" lvl="1" indent="0" eaLnBrk="1" hangingPunct="1">
              <a:spcBef>
                <a:spcPct val="20000"/>
              </a:spcBef>
              <a:buClr>
                <a:srgbClr val="FF5A33"/>
              </a:buClr>
            </a:pPr>
            <a:r>
              <a:rPr lang="en-US" sz="2400" dirty="0">
                <a:latin typeface="Segoe UI" pitchFamily="34" charset="0"/>
                <a:cs typeface="Segoe UI" pitchFamily="34" charset="0"/>
              </a:rPr>
              <a:t>&lt;N1&gt;, …, &lt;</a:t>
            </a:r>
            <a:r>
              <a:rPr lang="en-US" sz="2400" dirty="0" err="1">
                <a:latin typeface="Segoe UI" pitchFamily="34" charset="0"/>
                <a:cs typeface="Segoe UI" pitchFamily="34" charset="0"/>
              </a:rPr>
              <a:t>Nn</a:t>
            </a:r>
            <a:r>
              <a:rPr lang="en-US" sz="2400" dirty="0">
                <a:latin typeface="Segoe UI" pitchFamily="34" charset="0"/>
                <a:cs typeface="Segoe UI" pitchFamily="34" charset="0"/>
              </a:rPr>
              <a:t>&gt; : </a:t>
            </a:r>
            <a:r>
              <a:rPr lang="en-US" sz="2400" dirty="0" err="1">
                <a:latin typeface="Segoe UI" pitchFamily="34" charset="0"/>
                <a:cs typeface="Segoe UI" pitchFamily="34" charset="0"/>
              </a:rPr>
              <a:t>số</a:t>
            </a:r>
            <a:r>
              <a:rPr lang="en-US" sz="2400" dirty="0">
                <a:latin typeface="Segoe UI" pitchFamily="34" charset="0"/>
                <a:cs typeface="Segoe UI" pitchFamily="34" charset="0"/>
              </a:rPr>
              <a:t> l</a:t>
            </a:r>
            <a:r>
              <a:rPr lang="vi-VN" sz="2400" dirty="0">
                <a:latin typeface="Segoe UI" pitchFamily="34" charset="0"/>
                <a:cs typeface="Segoe UI" pitchFamily="34" charset="0"/>
              </a:rPr>
              <a:t>ượ</a:t>
            </a:r>
            <a:r>
              <a:rPr lang="en-US" sz="2400" dirty="0" err="1">
                <a:latin typeface="Segoe UI" pitchFamily="34" charset="0"/>
                <a:cs typeface="Segoe UI" pitchFamily="34" charset="0"/>
              </a:rPr>
              <a:t>ng</a:t>
            </a:r>
            <a:r>
              <a:rPr lang="en-US" sz="24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400" dirty="0" err="1">
                <a:latin typeface="Segoe UI" pitchFamily="34" charset="0"/>
                <a:cs typeface="Segoe UI" pitchFamily="34" charset="0"/>
              </a:rPr>
              <a:t>phần</a:t>
            </a:r>
            <a:r>
              <a:rPr lang="en-US" sz="24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400" dirty="0" err="1">
                <a:latin typeface="Segoe UI" pitchFamily="34" charset="0"/>
                <a:cs typeface="Segoe UI" pitchFamily="34" charset="0"/>
              </a:rPr>
              <a:t>tử</a:t>
            </a:r>
            <a:r>
              <a:rPr lang="en-US" sz="24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400" dirty="0" err="1">
                <a:latin typeface="Segoe UI" pitchFamily="34" charset="0"/>
                <a:cs typeface="Segoe UI" pitchFamily="34" charset="0"/>
              </a:rPr>
              <a:t>của</a:t>
            </a:r>
            <a:r>
              <a:rPr lang="en-US" sz="24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400" dirty="0" err="1">
                <a:latin typeface="Segoe UI" pitchFamily="34" charset="0"/>
                <a:cs typeface="Segoe UI" pitchFamily="34" charset="0"/>
              </a:rPr>
              <a:t>mỗi</a:t>
            </a:r>
            <a:r>
              <a:rPr lang="en-US" sz="24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400" dirty="0" err="1">
                <a:latin typeface="Segoe UI" pitchFamily="34" charset="0"/>
                <a:cs typeface="Segoe UI" pitchFamily="34" charset="0"/>
              </a:rPr>
              <a:t>chiều</a:t>
            </a:r>
            <a:r>
              <a:rPr lang="en-US" sz="2400" dirty="0">
                <a:latin typeface="Segoe UI" pitchFamily="34" charset="0"/>
                <a:cs typeface="Segoe UI" pitchFamily="34" charset="0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537" y="990599"/>
            <a:ext cx="10961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</a:pPr>
            <a:r>
              <a:rPr lang="en-US" sz="2800" dirty="0" err="1">
                <a:latin typeface="Segoe UI" pitchFamily="34" charset="0"/>
                <a:cs typeface="Segoe UI" pitchFamily="34" charset="0"/>
              </a:rPr>
              <a:t>Cú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pháp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khai</a:t>
            </a:r>
            <a:r>
              <a:rPr lang="en-US" sz="28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latin typeface="Segoe UI" pitchFamily="34" charset="0"/>
                <a:cs typeface="Segoe UI" pitchFamily="34" charset="0"/>
              </a:rPr>
              <a:t>báo</a:t>
            </a:r>
            <a:endParaRPr lang="en-US" sz="2800" dirty="0"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33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2184" y="3396457"/>
            <a:ext cx="4303376" cy="1826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5946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2 </a:t>
            </a:r>
            <a:r>
              <a:rPr lang="en-US" dirty="0" err="1"/>
              <a:t>chiều</a:t>
            </a:r>
            <a:r>
              <a:rPr lang="en-US" dirty="0"/>
              <a:t>(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tường</a:t>
            </a:r>
            <a:r>
              <a:rPr lang="en-US" dirty="0"/>
              <a:t> minh)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713" y="3429000"/>
            <a:ext cx="5269707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itchFamily="2" charset="2"/>
              <a:buChar char="v"/>
            </a:pP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Ví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dụ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</a:t>
            </a:r>
            <a:endParaRPr lang="en-US" dirty="0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1502566" y="2286000"/>
            <a:ext cx="83058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typedef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kiểu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c</a:t>
            </a:r>
            <a:r>
              <a:rPr lang="vi-VN" sz="2000" b="1" dirty="0">
                <a:latin typeface="Courier New" pitchFamily="49" charset="0"/>
                <a:cs typeface="Courier New" pitchFamily="49" charset="0"/>
              </a:rPr>
              <a:t>ơ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sở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&gt; 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tên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kiểu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mảng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&lt;N1&gt;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…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Nn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lnSpc>
                <a:spcPct val="150000"/>
              </a:lnSpc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tên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kiểu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mảng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&gt; 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tên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biến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mảng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&gt;;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536" y="990599"/>
            <a:ext cx="19736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rgbClr val="FF5A33"/>
              </a:buClr>
              <a:buFont typeface="Wingdings" pitchFamily="2" charset="2"/>
              <a:buChar char="v"/>
            </a:pP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Cú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pháp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5861" y="1644319"/>
            <a:ext cx="7246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buClr>
                <a:srgbClr val="FF5A33"/>
              </a:buClr>
              <a:buFont typeface="Wingdings" pitchFamily="2" charset="2"/>
              <a:buChar char="q"/>
            </a:pP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Không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t</a:t>
            </a:r>
            <a:r>
              <a:rPr lang="vi-VN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ườ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ng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minh (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thông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qua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khai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báo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kiểu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34</a:t>
            </a:fld>
            <a:endParaRPr lang="en-US" dirty="0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502566" y="4191000"/>
            <a:ext cx="83058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typedef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Mang2Chieu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Mang2Chieu m1, m2;</a:t>
            </a:r>
          </a:p>
        </p:txBody>
      </p:sp>
    </p:spTree>
    <p:extLst>
      <p:ext uri="{BB962C8B-B14F-4D97-AF65-F5344CB8AC3E}">
        <p14:creationId xmlns:p14="http://schemas.microsoft.com/office/powerpoint/2010/main" val="808912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KHỞI TẠO GIÁ TRỊ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35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60412" y="990600"/>
            <a:ext cx="10287000" cy="57861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itchFamily="2" charset="2"/>
              <a:buChar char="v"/>
            </a:pP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 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Khởi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tạo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mảng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2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chiều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bằng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cách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gán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giá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trị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  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i = 0;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  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j = 0;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  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ma_tran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[4][3] = {{ 1, 2, 3 }, {2, 3, 4}, {3, 4, 5}, {4, 5, 6}};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	for (i = 0; i &lt; 4; i++) {    		 //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duyệt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mảng</a:t>
            </a:r>
            <a:endParaRPr lang="en-US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		for (j = 0; j &lt; 3; j++) {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    		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printf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("%d ",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ma_tran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[i][j]);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		}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		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printf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("\n");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   	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845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KHỞI TẠO GIÁ TRỊ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36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37803" y="990600"/>
            <a:ext cx="10287000" cy="56938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itchFamily="2" charset="2"/>
              <a:buChar char="v"/>
            </a:pP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 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Khởi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tạo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mảng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2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chiều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bằng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cách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nhập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giá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trị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từ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bàn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phím</a:t>
            </a: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  <a:p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i, j;</a:t>
            </a:r>
          </a:p>
          <a:p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ma_tran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[4][3];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printf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("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Nhap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mang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: \n");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   for (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i = 0; i &lt; 4; i++) {		 //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nhập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mảng</a:t>
            </a:r>
            <a:endParaRPr lang="en-US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for (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j = 0; j &lt; 3; j++) {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   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printf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("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Nhap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a[%d][%d] = ", i, j);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   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scanf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("%d", &amp;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ma_tran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[i][j]);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}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printf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("\n");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   } </a:t>
            </a:r>
          </a:p>
        </p:txBody>
      </p:sp>
    </p:spTree>
    <p:extLst>
      <p:ext uri="{BB962C8B-B14F-4D97-AF65-F5344CB8AC3E}">
        <p14:creationId xmlns:p14="http://schemas.microsoft.com/office/powerpoint/2010/main" val="1871516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DUYỆT MẢNG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37</a:t>
            </a:fld>
            <a:endParaRPr lang="en-US" dirty="0"/>
          </a:p>
        </p:txBody>
      </p:sp>
      <p:sp>
        <p:nvSpPr>
          <p:cNvPr id="6" name="Content Placeholder 11"/>
          <p:cNvSpPr>
            <a:spLocks noGrp="1"/>
          </p:cNvSpPr>
          <p:nvPr>
            <p:ph idx="1"/>
          </p:nvPr>
        </p:nvSpPr>
        <p:spPr>
          <a:xfrm>
            <a:off x="457200" y="1066800"/>
            <a:ext cx="11199812" cy="9906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Dùng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2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vòng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lặp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for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lồng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với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nhau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để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duyệt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mảng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2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chiều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136" y="1828800"/>
            <a:ext cx="10531476" cy="424731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i = 0;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j = 0;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ma_tran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[4][3] = {{ 1, 2, 3 }, {2, 3, 4}, {3, 4, 5}, {4, 5, 6}};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for (i = 0; i &lt; 4; i++) {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for (j = 0; j &lt; 3; j++) {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   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printf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("%d ",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ma_tran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[i][j]);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}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printf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("\n");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498808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TRUY XUẤT MẢNG 2 CHIỀU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38</a:t>
            </a:fld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8012" y="1066800"/>
            <a:ext cx="11049000" cy="5257800"/>
          </a:xfrm>
        </p:spPr>
        <p:txBody>
          <a:bodyPr/>
          <a:lstStyle/>
          <a:p>
            <a:pPr>
              <a:buFont typeface="Wingdings" pitchFamily="2" charset="2"/>
              <a:buChar char="v"/>
              <a:defRPr/>
            </a:pP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Thông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qua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chỉ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số</a:t>
            </a:r>
            <a:endParaRPr lang="en-US" dirty="0">
              <a:solidFill>
                <a:schemeClr val="tx1">
                  <a:lumMod val="60000"/>
                  <a:lumOff val="40000"/>
                </a:schemeClr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>
              <a:defRPr/>
            </a:pPr>
            <a:endParaRPr lang="en-US" dirty="0"/>
          </a:p>
          <a:p>
            <a:pPr>
              <a:buFont typeface="Wingdings" pitchFamily="2" charset="2"/>
              <a:buChar char="v"/>
              <a:defRPr/>
            </a:pP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Ví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dụ</a:t>
            </a:r>
            <a:endParaRPr lang="en-US" dirty="0">
              <a:solidFill>
                <a:schemeClr val="tx1">
                  <a:lumMod val="60000"/>
                  <a:lumOff val="40000"/>
                </a:schemeClr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>
              <a:buFont typeface="Wingdings" pitchFamily="2" charset="2"/>
              <a:buChar char="q"/>
              <a:defRPr/>
            </a:pP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Cho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mảng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2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chiều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nh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ư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sau</a:t>
            </a:r>
            <a:endParaRPr lang="en-US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457200" lvl="1" indent="0">
              <a:buNone/>
              <a:defRPr/>
            </a:pPr>
            <a:endParaRPr lang="en-US" dirty="0"/>
          </a:p>
          <a:p>
            <a:pPr marL="457200" lvl="1" indent="0">
              <a:buNone/>
              <a:defRPr/>
            </a:pPr>
            <a:endParaRPr lang="en-US" dirty="0"/>
          </a:p>
          <a:p>
            <a:pPr lvl="1">
              <a:buFont typeface="Wingdings" pitchFamily="2" charset="2"/>
              <a:buChar char="q"/>
              <a:defRPr/>
            </a:pP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Các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truy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xuất</a:t>
            </a:r>
            <a:endParaRPr lang="en-US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2">
              <a:lnSpc>
                <a:spcPct val="150000"/>
              </a:lnSpc>
              <a:defRPr/>
            </a:pPr>
            <a:r>
              <a:rPr lang="en-US" sz="2400" dirty="0" err="1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Hợp</a:t>
            </a:r>
            <a:r>
              <a:rPr lang="en-US" sz="2400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lệ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: a[0][0],  a[0][1], …, a[2][2], a[2][3]</a:t>
            </a:r>
          </a:p>
          <a:p>
            <a:pPr lvl="2">
              <a:lnSpc>
                <a:spcPct val="150000"/>
              </a:lnSpc>
              <a:defRPr/>
            </a:pPr>
            <a:r>
              <a:rPr lang="en-US" sz="2400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Không</a:t>
            </a:r>
            <a:r>
              <a:rPr lang="en-US" sz="24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hợp</a:t>
            </a:r>
            <a:r>
              <a:rPr lang="en-US" sz="24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lệ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: a[-1][0], a[2][4], a[3][3]</a:t>
            </a:r>
          </a:p>
          <a:p>
            <a:pPr lvl="2">
              <a:lnSpc>
                <a:spcPct val="150000"/>
              </a:lnSpc>
              <a:buFontTx/>
              <a:buNone/>
              <a:defRPr/>
            </a:pPr>
            <a:r>
              <a:rPr lang="en-US" dirty="0"/>
              <a:t>	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692657" y="3131950"/>
            <a:ext cx="31257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a[</a:t>
            </a:r>
            <a:r>
              <a:rPr lang="en-US" sz="2400" dirty="0">
                <a:solidFill>
                  <a:srgbClr val="FF33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3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][</a:t>
            </a:r>
            <a:r>
              <a:rPr lang="en-US" sz="2400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4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];</a:t>
            </a:r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gray">
          <a:xfrm>
            <a:off x="4570412" y="29718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baseline="30000" dirty="0"/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1217612" y="1657350"/>
            <a:ext cx="8305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tên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biến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mảng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giá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trị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cs1&gt;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giá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trị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cs2&gt;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</a:p>
        </p:txBody>
      </p:sp>
      <p:sp>
        <p:nvSpPr>
          <p:cNvPr id="37" name="AutoShape 6"/>
          <p:cNvSpPr>
            <a:spLocks noChangeArrowheads="1"/>
          </p:cNvSpPr>
          <p:nvPr/>
        </p:nvSpPr>
        <p:spPr bwMode="gray">
          <a:xfrm>
            <a:off x="6324600" y="288509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0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38" name="AutoShape 6"/>
          <p:cNvSpPr>
            <a:spLocks noChangeArrowheads="1"/>
          </p:cNvSpPr>
          <p:nvPr/>
        </p:nvSpPr>
        <p:spPr bwMode="gray">
          <a:xfrm>
            <a:off x="6324600" y="334229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1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39" name="AutoShape 6"/>
          <p:cNvSpPr>
            <a:spLocks noChangeArrowheads="1"/>
          </p:cNvSpPr>
          <p:nvPr/>
        </p:nvSpPr>
        <p:spPr bwMode="gray">
          <a:xfrm>
            <a:off x="6324600" y="379949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2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40" name="AutoShape 6"/>
          <p:cNvSpPr>
            <a:spLocks noChangeArrowheads="1"/>
          </p:cNvSpPr>
          <p:nvPr/>
        </p:nvSpPr>
        <p:spPr bwMode="gray">
          <a:xfrm>
            <a:off x="6781800" y="288509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1" name="AutoShape 6"/>
          <p:cNvSpPr>
            <a:spLocks noChangeArrowheads="1"/>
          </p:cNvSpPr>
          <p:nvPr/>
        </p:nvSpPr>
        <p:spPr bwMode="gray">
          <a:xfrm>
            <a:off x="7239000" y="288509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2" name="AutoShape 6"/>
          <p:cNvSpPr>
            <a:spLocks noChangeArrowheads="1"/>
          </p:cNvSpPr>
          <p:nvPr/>
        </p:nvSpPr>
        <p:spPr bwMode="gray">
          <a:xfrm>
            <a:off x="7696200" y="288509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3" name="AutoShape 6"/>
          <p:cNvSpPr>
            <a:spLocks noChangeArrowheads="1"/>
          </p:cNvSpPr>
          <p:nvPr/>
        </p:nvSpPr>
        <p:spPr bwMode="gray">
          <a:xfrm>
            <a:off x="8153400" y="288509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4" name="AutoShape 6"/>
          <p:cNvSpPr>
            <a:spLocks noChangeArrowheads="1"/>
          </p:cNvSpPr>
          <p:nvPr/>
        </p:nvSpPr>
        <p:spPr bwMode="gray">
          <a:xfrm>
            <a:off x="6781800" y="334229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5" name="AutoShape 6"/>
          <p:cNvSpPr>
            <a:spLocks noChangeArrowheads="1"/>
          </p:cNvSpPr>
          <p:nvPr/>
        </p:nvSpPr>
        <p:spPr bwMode="gray">
          <a:xfrm>
            <a:off x="8153400" y="334229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6" name="AutoShape 6"/>
          <p:cNvSpPr>
            <a:spLocks noChangeArrowheads="1"/>
          </p:cNvSpPr>
          <p:nvPr/>
        </p:nvSpPr>
        <p:spPr bwMode="gray">
          <a:xfrm>
            <a:off x="6781800" y="379949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7" name="AutoShape 6"/>
          <p:cNvSpPr>
            <a:spLocks noChangeArrowheads="1"/>
          </p:cNvSpPr>
          <p:nvPr/>
        </p:nvSpPr>
        <p:spPr bwMode="gray">
          <a:xfrm>
            <a:off x="7239000" y="334229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8" name="AutoShape 6"/>
          <p:cNvSpPr>
            <a:spLocks noChangeArrowheads="1"/>
          </p:cNvSpPr>
          <p:nvPr/>
        </p:nvSpPr>
        <p:spPr bwMode="gray">
          <a:xfrm>
            <a:off x="7696200" y="334229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9" name="AutoShape 6"/>
          <p:cNvSpPr>
            <a:spLocks noChangeArrowheads="1"/>
          </p:cNvSpPr>
          <p:nvPr/>
        </p:nvSpPr>
        <p:spPr bwMode="gray">
          <a:xfrm>
            <a:off x="7696200" y="379949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0" name="AutoShape 6"/>
          <p:cNvSpPr>
            <a:spLocks noChangeArrowheads="1"/>
          </p:cNvSpPr>
          <p:nvPr/>
        </p:nvSpPr>
        <p:spPr bwMode="gray">
          <a:xfrm>
            <a:off x="8153400" y="379949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1" name="AutoShape 6"/>
          <p:cNvSpPr>
            <a:spLocks noChangeArrowheads="1"/>
          </p:cNvSpPr>
          <p:nvPr/>
        </p:nvSpPr>
        <p:spPr bwMode="gray">
          <a:xfrm>
            <a:off x="7239000" y="379949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2" name="AutoShape 6"/>
          <p:cNvSpPr>
            <a:spLocks noChangeArrowheads="1"/>
          </p:cNvSpPr>
          <p:nvPr/>
        </p:nvSpPr>
        <p:spPr bwMode="gray">
          <a:xfrm>
            <a:off x="6781800" y="242789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dirty="0">
                <a:solidFill>
                  <a:srgbClr val="0000FF"/>
                </a:solidFill>
              </a:rPr>
              <a:t>0</a:t>
            </a:r>
            <a:endParaRPr lang="en-US" baseline="30000" dirty="0">
              <a:solidFill>
                <a:srgbClr val="0000FF"/>
              </a:solidFill>
            </a:endParaRPr>
          </a:p>
        </p:txBody>
      </p:sp>
      <p:sp>
        <p:nvSpPr>
          <p:cNvPr id="53" name="AutoShape 6"/>
          <p:cNvSpPr>
            <a:spLocks noChangeArrowheads="1"/>
          </p:cNvSpPr>
          <p:nvPr/>
        </p:nvSpPr>
        <p:spPr bwMode="gray">
          <a:xfrm>
            <a:off x="7239000" y="242789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dirty="0">
                <a:solidFill>
                  <a:srgbClr val="0000FF"/>
                </a:solidFill>
              </a:rPr>
              <a:t>1</a:t>
            </a:r>
            <a:endParaRPr lang="en-US" baseline="30000" dirty="0">
              <a:solidFill>
                <a:srgbClr val="0000FF"/>
              </a:solidFill>
            </a:endParaRPr>
          </a:p>
        </p:txBody>
      </p:sp>
      <p:sp>
        <p:nvSpPr>
          <p:cNvPr id="54" name="AutoShape 6"/>
          <p:cNvSpPr>
            <a:spLocks noChangeArrowheads="1"/>
          </p:cNvSpPr>
          <p:nvPr/>
        </p:nvSpPr>
        <p:spPr bwMode="gray">
          <a:xfrm>
            <a:off x="7696200" y="242789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0000FF"/>
                </a:solidFill>
              </a:rPr>
              <a:t>2</a:t>
            </a:r>
            <a:endParaRPr lang="en-US" baseline="30000">
              <a:solidFill>
                <a:srgbClr val="0000FF"/>
              </a:solidFill>
            </a:endParaRPr>
          </a:p>
        </p:txBody>
      </p:sp>
      <p:sp>
        <p:nvSpPr>
          <p:cNvPr id="55" name="AutoShape 6"/>
          <p:cNvSpPr>
            <a:spLocks noChangeArrowheads="1"/>
          </p:cNvSpPr>
          <p:nvPr/>
        </p:nvSpPr>
        <p:spPr bwMode="gray">
          <a:xfrm>
            <a:off x="8153400" y="242789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0000FF"/>
                </a:solidFill>
              </a:rPr>
              <a:t>3</a:t>
            </a:r>
            <a:endParaRPr lang="en-US" baseline="300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375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5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2 </a:t>
            </a:r>
            <a:r>
              <a:rPr lang="en-US" dirty="0" err="1"/>
              <a:t>chiều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39</a:t>
            </a:fld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08012" y="1066800"/>
            <a:ext cx="10972800" cy="54102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Char char="v"/>
              <a:defRPr/>
            </a:pPr>
            <a:r>
              <a:rPr lang="en-US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Không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vi-VN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đượ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sử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dụng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phép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gán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thông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th</a:t>
            </a:r>
            <a:r>
              <a:rPr lang="vi-VN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ườ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ng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mà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phải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gán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trực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tiếp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giữa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các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phần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tử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t</a:t>
            </a:r>
            <a:r>
              <a:rPr lang="vi-VN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ươ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ng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ứng</a:t>
            </a:r>
            <a:endParaRPr lang="en-US" dirty="0">
              <a:solidFill>
                <a:schemeClr val="tx1">
                  <a:lumMod val="60000"/>
                  <a:lumOff val="40000"/>
                </a:schemeClr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buFont typeface="Wingdings" pitchFamily="2" charset="2"/>
              <a:buChar char="v"/>
              <a:defRPr/>
            </a:pP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Ví</a:t>
            </a: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dụ</a:t>
            </a:r>
            <a:endParaRPr lang="en-US" dirty="0">
              <a:solidFill>
                <a:schemeClr val="tx1">
                  <a:lumMod val="60000"/>
                  <a:lumOff val="40000"/>
                </a:schemeClr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0012" y="2514601"/>
            <a:ext cx="9296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strike="sngStrike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000" b="1" strike="sngStrike" dirty="0" err="1">
                <a:latin typeface="Courier New" pitchFamily="49" charset="0"/>
                <a:cs typeface="Courier New" pitchFamily="49" charset="0"/>
              </a:rPr>
              <a:t>biến</a:t>
            </a:r>
            <a:r>
              <a:rPr lang="en-US" sz="2000" b="1" strike="sngStrik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strike="sngStrike" dirty="0" err="1">
                <a:latin typeface="Courier New" pitchFamily="49" charset="0"/>
                <a:cs typeface="Courier New" pitchFamily="49" charset="0"/>
              </a:rPr>
              <a:t>mảng</a:t>
            </a:r>
            <a:r>
              <a:rPr lang="en-US" sz="2000" b="1" strike="sngStrik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vi-VN" sz="2000" b="1" strike="sngStrike" dirty="0">
                <a:latin typeface="Courier New" pitchFamily="49" charset="0"/>
                <a:cs typeface="Courier New" pitchFamily="49" charset="0"/>
              </a:rPr>
              <a:t>đí</a:t>
            </a:r>
            <a:r>
              <a:rPr lang="en-US" sz="2000" b="1" strike="sngStrike" dirty="0" err="1">
                <a:latin typeface="Courier New" pitchFamily="49" charset="0"/>
                <a:cs typeface="Courier New" pitchFamily="49" charset="0"/>
              </a:rPr>
              <a:t>ch</a:t>
            </a:r>
            <a:r>
              <a:rPr lang="en-US" sz="2000" b="1" strike="sngStrike" dirty="0">
                <a:latin typeface="Courier New" pitchFamily="49" charset="0"/>
                <a:cs typeface="Courier New" pitchFamily="49" charset="0"/>
              </a:rPr>
              <a:t>&gt; = &lt;</a:t>
            </a:r>
            <a:r>
              <a:rPr lang="en-US" sz="2000" b="1" strike="sngStrike" dirty="0" err="1">
                <a:latin typeface="Courier New" pitchFamily="49" charset="0"/>
                <a:cs typeface="Courier New" pitchFamily="49" charset="0"/>
              </a:rPr>
              <a:t>biến</a:t>
            </a:r>
            <a:r>
              <a:rPr lang="en-US" sz="2000" b="1" strike="sngStrik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strike="sngStrike" dirty="0" err="1">
                <a:latin typeface="Courier New" pitchFamily="49" charset="0"/>
                <a:cs typeface="Courier New" pitchFamily="49" charset="0"/>
              </a:rPr>
              <a:t>mảng</a:t>
            </a:r>
            <a:r>
              <a:rPr lang="en-US" sz="2000" b="1" strike="sngStrik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strike="sngStrike" dirty="0" err="1">
                <a:latin typeface="Courier New" pitchFamily="49" charset="0"/>
                <a:cs typeface="Courier New" pitchFamily="49" charset="0"/>
              </a:rPr>
              <a:t>nguồn</a:t>
            </a:r>
            <a:r>
              <a:rPr lang="en-US" sz="2000" b="1" strike="sngStrike" dirty="0">
                <a:latin typeface="Courier New" pitchFamily="49" charset="0"/>
                <a:cs typeface="Courier New" pitchFamily="49" charset="0"/>
              </a:rPr>
              <a:t>&gt;;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sai</a:t>
            </a:r>
            <a:endParaRPr lang="en-US" sz="20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biến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mảng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vi-VN" sz="2000" b="1" dirty="0">
                <a:latin typeface="Courier New" pitchFamily="49" charset="0"/>
                <a:cs typeface="Courier New" pitchFamily="49" charset="0"/>
              </a:rPr>
              <a:t>đí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ch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&gt;[&lt;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giá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trị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cs1&gt;][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giá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trị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cs2] = 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giá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trị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&gt;;</a:t>
            </a:r>
            <a:endParaRPr lang="en-US" sz="20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370012" y="4072759"/>
            <a:ext cx="7315200" cy="2677656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a[5][10], b[5][10];</a:t>
            </a:r>
          </a:p>
          <a:p>
            <a:pPr eaLnBrk="1" hangingPunct="1"/>
            <a:endParaRPr lang="en-US" sz="2400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eaLnBrk="1" hangingPunct="1"/>
            <a:r>
              <a:rPr lang="en-US" sz="24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 = a;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	// </a:t>
            </a:r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Sai</a:t>
            </a:r>
            <a:endParaRPr lang="en-US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eaLnBrk="1" hangingPunct="1"/>
            <a:r>
              <a:rPr lang="en-US" sz="24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 i, j;</a:t>
            </a:r>
          </a:p>
          <a:p>
            <a:pPr eaLnBrk="1" hangingPunct="1"/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for (i = 0; i &lt; 5; i++)</a:t>
            </a:r>
          </a:p>
          <a:p>
            <a:pPr eaLnBrk="1" hangingPunct="1"/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	for (j = 0; j &lt; 10; j++)</a:t>
            </a:r>
          </a:p>
          <a:p>
            <a:pPr eaLnBrk="1" hangingPunct="1"/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		b[i][j] = a[i][j];</a:t>
            </a:r>
          </a:p>
        </p:txBody>
      </p:sp>
    </p:spTree>
    <p:extLst>
      <p:ext uri="{BB962C8B-B14F-4D97-AF65-F5344CB8AC3E}">
        <p14:creationId xmlns:p14="http://schemas.microsoft.com/office/powerpoint/2010/main" val="3855407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40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803551" y="1689826"/>
            <a:ext cx="5943600" cy="47089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printf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("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Nhap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phan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tu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can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tim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x = "); 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scanf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("%d", &amp;x);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for (i = 0; i &lt; 2; i++) {		 //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duyệt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mảng</a:t>
            </a:r>
            <a:endParaRPr lang="en-US" sz="20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for (j = 0; j &lt; 2; j++) {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     if(x ==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ma_tran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[i][j]){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     	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printf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("%d co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trong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mang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", x);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     	break;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     }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}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}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5612" y="1689827"/>
            <a:ext cx="5347939" cy="47089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i,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j,x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;</a:t>
            </a:r>
          </a:p>
          <a:p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ma_tran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[2][2];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printf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("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Nhap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mang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: \n");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for (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i = 0; i &lt; 2; i++) {	//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nhập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mảng</a:t>
            </a:r>
            <a:endParaRPr lang="en-US" sz="20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for (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j = 0; j &lt; 2; j++) {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   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printf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("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Nhap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a[%d][%d] = ", i, j);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   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scanf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("%d", &amp;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ma_tran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[i][j]);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}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printf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("\n");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} </a:t>
            </a:r>
          </a:p>
          <a:p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455612" y="990600"/>
            <a:ext cx="110629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v"/>
            </a:pPr>
            <a:r>
              <a:rPr lang="en-US" sz="2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Nhập</a:t>
            </a: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và</a:t>
            </a: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tìm</a:t>
            </a: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1 </a:t>
            </a:r>
            <a:r>
              <a:rPr lang="en-US" sz="2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giá</a:t>
            </a: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trị</a:t>
            </a: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trong</a:t>
            </a: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mảng</a:t>
            </a: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00031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33045" y="4800600"/>
            <a:ext cx="38138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Nhập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mảng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số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nguyên</a:t>
            </a:r>
            <a:r>
              <a:rPr lang="en-US" dirty="0">
                <a:solidFill>
                  <a:schemeClr val="bg1"/>
                </a:solidFill>
              </a:rPr>
              <a:t> 2 </a:t>
            </a:r>
            <a:r>
              <a:rPr lang="en-US" dirty="0" err="1">
                <a:solidFill>
                  <a:schemeClr val="bg1"/>
                </a:solidFill>
              </a:rPr>
              <a:t>chiều</a:t>
            </a:r>
            <a:r>
              <a:rPr lang="en-US" dirty="0">
                <a:solidFill>
                  <a:schemeClr val="bg1"/>
                </a:solidFill>
              </a:rPr>
              <a:t> 2 </a:t>
            </a:r>
            <a:r>
              <a:rPr lang="en-US" dirty="0" err="1">
                <a:solidFill>
                  <a:schemeClr val="bg1"/>
                </a:solidFill>
              </a:rPr>
              <a:t>hàng</a:t>
            </a:r>
            <a:r>
              <a:rPr lang="en-US" dirty="0">
                <a:solidFill>
                  <a:schemeClr val="bg1"/>
                </a:solidFill>
              </a:rPr>
              <a:t>,</a:t>
            </a:r>
          </a:p>
          <a:p>
            <a:r>
              <a:rPr lang="en-US" dirty="0">
                <a:solidFill>
                  <a:schemeClr val="bg1"/>
                </a:solidFill>
              </a:rPr>
              <a:t>3 </a:t>
            </a:r>
            <a:r>
              <a:rPr lang="en-US" dirty="0" err="1">
                <a:solidFill>
                  <a:schemeClr val="bg1"/>
                </a:solidFill>
              </a:rPr>
              <a:t>cột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từ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bàn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phím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và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xuất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màn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hình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dirty="0" err="1">
                <a:solidFill>
                  <a:schemeClr val="bg1"/>
                </a:solidFill>
              </a:rPr>
              <a:t>giá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trị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lớn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nhất</a:t>
            </a: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nhỏ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nhất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trong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mảng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927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NHẬP XUẤT MẢNG 2 CHIỀU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336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43</a:t>
            </a:fld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þ"/>
            </a:pP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endParaRPr lang="en-US" dirty="0"/>
          </a:p>
          <a:p>
            <a:pPr>
              <a:buFont typeface="Wingdings" pitchFamily="2" charset="2"/>
              <a:buChar char="þ"/>
            </a:pP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1 </a:t>
            </a:r>
            <a:r>
              <a:rPr lang="en-US" dirty="0" err="1"/>
              <a:t>chiều</a:t>
            </a:r>
            <a:endParaRPr lang="en-US" dirty="0"/>
          </a:p>
          <a:p>
            <a:pPr>
              <a:buFont typeface="Wingdings" pitchFamily="2" charset="2"/>
              <a:buChar char="þ"/>
            </a:pPr>
            <a:r>
              <a:rPr lang="en-US" dirty="0" err="1"/>
              <a:t>Mảng</a:t>
            </a:r>
            <a:r>
              <a:rPr lang="en-US" dirty="0"/>
              <a:t> 2 </a:t>
            </a:r>
            <a:r>
              <a:rPr lang="en-US" dirty="0" err="1"/>
              <a:t>chiều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 err="1"/>
              <a:t>Duyệt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818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CHÈN QUIZ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134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41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XSS_ORIGINAL" val="10,Group 9,646,Slide391"/>
  <p:tag name="PPTXSS_SETTINGS" val="0,0,0,0,0,3,True,True"/>
  <p:tag name="PTXSS_ORIGID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XSS_ORIGINAL" val="10,Group 9,646,Slide391"/>
  <p:tag name="PPTXSS_SETTINGS" val="0,0,0,0,0,3,True,True"/>
  <p:tag name="PTXSS_ORIGID" val="1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9656</TotalTime>
  <Words>2993</Words>
  <Application>Microsoft Office PowerPoint</Application>
  <PresentationFormat>Custom</PresentationFormat>
  <Paragraphs>433</Paragraphs>
  <Slides>45</Slides>
  <Notes>2</Notes>
  <HiddenSlides>9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Arial</vt:lpstr>
      <vt:lpstr>Calibri</vt:lpstr>
      <vt:lpstr>Century Gothic</vt:lpstr>
      <vt:lpstr>Courier New</vt:lpstr>
      <vt:lpstr>Segoe UI</vt:lpstr>
      <vt:lpstr>Tahoma</vt:lpstr>
      <vt:lpstr>Wingdings</vt:lpstr>
      <vt:lpstr>Custom Design</vt:lpstr>
      <vt:lpstr>NHẬp  MÔN LẬP TRÌNH</vt:lpstr>
      <vt:lpstr>Mục tiêu</vt:lpstr>
      <vt:lpstr>Phần 1: mảng 1 chiều</vt:lpstr>
      <vt:lpstr>NỘI DUNG</vt:lpstr>
      <vt:lpstr>Đặt vấn đề</vt:lpstr>
      <vt:lpstr>GIỚI THIỆU MẢNG</vt:lpstr>
      <vt:lpstr>GIỚI THIỆU MẢNG</vt:lpstr>
      <vt:lpstr>Phân loại mảng</vt:lpstr>
      <vt:lpstr>KIỂU DỮ LIỆU &amp; BIẾN</vt:lpstr>
      <vt:lpstr>KHAI BÁO MẢNG</vt:lpstr>
      <vt:lpstr>Khai báo mảng 1 chiều(không tường minh)</vt:lpstr>
      <vt:lpstr>Số phần tử của mảng</vt:lpstr>
      <vt:lpstr>KHỞI TẠO GIÁ TRỊ</vt:lpstr>
      <vt:lpstr>Khởi tạo giá trị(tt)</vt:lpstr>
      <vt:lpstr>TRUY XUẤT MẢNG</vt:lpstr>
      <vt:lpstr>Gán dữ liệu kiểu mảng</vt:lpstr>
      <vt:lpstr>Duyệt mảng 1 chiều</vt:lpstr>
      <vt:lpstr>Ví dụ</vt:lpstr>
      <vt:lpstr>NHẬP XUẤT DỮ LIỆU TRONG MẢNG</vt:lpstr>
      <vt:lpstr>Tóm tắt bài học</vt:lpstr>
      <vt:lpstr>CHÈN QUIZ</vt:lpstr>
      <vt:lpstr>PowerPoint Presentation</vt:lpstr>
      <vt:lpstr>LƯU Ý</vt:lpstr>
      <vt:lpstr>Phần 2: SẮP XẾP MẢNG &amp; mảng 2 chiều</vt:lpstr>
      <vt:lpstr>SẮP XẾP</vt:lpstr>
      <vt:lpstr>SẮP XẾP</vt:lpstr>
      <vt:lpstr>THUẬT TOÁN SẮP XẾP</vt:lpstr>
      <vt:lpstr>BUBBLE SORT</vt:lpstr>
      <vt:lpstr>BUBBLE SORT</vt:lpstr>
      <vt:lpstr>SẮP XẾP MẢNG SỐ NGUYÊN</vt:lpstr>
      <vt:lpstr>MẢNG 2 CHIỀU</vt:lpstr>
      <vt:lpstr>ỨNG DỤNG CỦA MẢNG ĐA CHIỀU</vt:lpstr>
      <vt:lpstr>KHAI BÁO MẢNG 2 CHIỀU</vt:lpstr>
      <vt:lpstr>Khai báo mảng 2 chiều(không tường minh)</vt:lpstr>
      <vt:lpstr>KHỞI TẠO GIÁ TRỊ</vt:lpstr>
      <vt:lpstr>KHỞI TẠO GIÁ TRỊ</vt:lpstr>
      <vt:lpstr>DUYỆT MẢNG</vt:lpstr>
      <vt:lpstr>TRUY XUẤT MẢNG 2 CHIỀU</vt:lpstr>
      <vt:lpstr>Gán dữ liệu kiểu mảng 2 chiều</vt:lpstr>
      <vt:lpstr>Ví dụ</vt:lpstr>
      <vt:lpstr>PowerPoint Presentation</vt:lpstr>
      <vt:lpstr>NHẬP XUẤT MẢNG 2 CHIỀU</vt:lpstr>
      <vt:lpstr>Tóm tắt bài học</vt:lpstr>
      <vt:lpstr>CHÈN QUIZ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 Học Văn Phòng</dc:title>
  <dc:creator>Hans</dc:creator>
  <cp:lastModifiedBy>Binh Tran Quang</cp:lastModifiedBy>
  <cp:revision>1611</cp:revision>
  <dcterms:created xsi:type="dcterms:W3CDTF">2013-04-23T08:05:33Z</dcterms:created>
  <dcterms:modified xsi:type="dcterms:W3CDTF">2023-11-25T04:01:07Z</dcterms:modified>
</cp:coreProperties>
</file>